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charts/chart1.xml" ContentType="application/vnd.openxmlformats-officedocument.drawingml.chart+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0A0A0C"/>
            </a:solidFill>
            <a:effectLst/>
          </c:spPr>
          <c:invertIfNegative val="0"/>
          <c:dLbls>
            <c:numFmt formatCode="&quot;$&quot;#,##0" sourceLinked="0"/>
            <c:txPr>
              <a:bodyPr/>
              <a:lstStyle/>
              <a:p>
                <a:pPr>
                  <a:defRPr b="1" i="0" strike="noStrike" sz="1300" u="none">
                    <a:solidFill>
                      <a:srgbClr val="0A0A0C"/>
                    </a:solidFill>
                    <a:latin typeface="Arial"/>
                  </a:defRPr>
                </a:pPr>
              </a:p>
            </c:txPr>
            <c:showLegendKey val="0"/>
            <c:showVal val="1"/>
            <c:showCatName val="0"/>
            <c:showSerName val="0"/>
            <c:showPercent val="0"/>
            <c:showBubbleSize val="0"/>
            <c:showLeaderLines val="0"/>
          </c:dLbls>
          <c:cat>
            <c:multiLvlStrRef>
              <c:f>Sheet1!$A$2:$A$8</c:f>
              <c:multiLvlStrCache>
                <c:ptCount val="7"/>
                <c:lvl>
                  <c:pt idx="0">
                    <c:v>Client Summary PDF</c:v>
                  </c:pt>
                  <c:pt idx="1">
                    <c:v>Progress Report + Timeline</c:v>
                  </c:pt>
                  <c:pt idx="2">
                    <c:v>Letter Print + Certified Mail</c:v>
                  </c:pt>
                  <c:pt idx="3">
                    <c:v>AI Dispute Letter Engine</c:v>
                  </c:pt>
                  <c:pt idx="4">
                    <c:v>Bank + Bureau Matching</c:v>
                  </c:pt>
                  <c:pt idx="5">
                    <c:v>Underwriting Blueprint</c:v>
                  </c:pt>
                  <c:pt idx="6">
                    <c:v>AI Credit File Analysis</c:v>
                  </c:pt>
                </c:lvl>
              </c:multiLvlStrCache>
            </c:multiLvlStrRef>
          </c:cat>
          <c:val>
            <c:numRef>
              <c:f>Sheet1!$B$2:$B$8</c:f>
              <c:numCache>
                <c:formatCode>General</c:formatCode>
                <c:ptCount val="7"/>
                <c:pt idx="0">
                  <c:v>45</c:v>
                </c:pt>
                <c:pt idx="1">
                  <c:v>67</c:v>
                </c:pt>
                <c:pt idx="2">
                  <c:v>97</c:v>
                </c:pt>
                <c:pt idx="3">
                  <c:v>97</c:v>
                </c:pt>
                <c:pt idx="4">
                  <c:v>197</c:v>
                </c:pt>
                <c:pt idx="5">
                  <c:v>197</c:v>
                </c:pt>
                <c:pt idx="6">
                  <c:v>297</c:v>
                </c:pt>
              </c:numCache>
            </c:numRef>
          </c:val>
        </c:ser>
        <c:dLbls>
          <c:numFmt formatCode="&quot;$&quot;#,##0" sourceLinked="0"/>
          <c:txPr>
            <a:bodyPr/>
            <a:lstStyle/>
            <a:p>
              <a:pPr>
                <a:defRPr b="1" i="0" strike="noStrike" sz="1300" u="none">
                  <a:solidFill>
                    <a:srgbClr val="0A0A0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A2E33"/>
                </a:solidFill>
                <a:latin typeface="Arial"/>
              </a:defRPr>
            </a:pPr>
            <a:endParaRPr lang="en-US"/>
          </a:p>
        </c:txPr>
        <c:crossAx val="2094734552"/>
        <c:crosses val="autoZero"/>
        <c:auto val="1"/>
        <c:lblAlgn val="ctr"/>
        <c:noMultiLvlLbl val="1"/>
      </c:catAx>
      <c:valAx>
        <c:axId val="2094734552"/>
        <c:scaling>
          <c:orientation val="minMax"/>
          <c:max val="3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minutes. By the end you will know exactly why your last denial happened, and what your file needs before you apply to anything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 Must be trivially easy and must succeed — it teaches the room that typing in the chat is what we do here. If the chat stays quiet, stop and fix it. Every later ask depends on this one landing.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Three full seconds of silence. Let it sit before you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you know exactly what that phone call sounds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slide people feel. Nobody applies for a car loan because they want a car loan — they want to stop losing shifts and get home before their kids are asleep. Do not rush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#2 — first emotional yes. Wait for it. Read two or three names out loud; that is what teaches the room that answering gets acknowledged.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business owners — same feeling, different shape. You weren't short on skill. You were short on cash for ninety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has ever laid in bed wishing their score was higher for its own sake. You want the house. You want the truck. You want the line of credit. The score is just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four slowly. Then go straight to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#3 — highest-volume yes of the night. Wait. Do not move until the chat fills. The wall of YES is the point, not the answer: it proves to every person that they are not the only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is in the wrong room tonight. Underwriting does not read a file differently because of what you want at the end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#4 — diagnostic, not agreement. Tells you the room mix so you can weight examples for the next hour. Say the split out loud once you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DISCIPLINE ALL NIGHT: always "they" and "Score Machine." Never "we," "our software," "our team." You are a customer telling the room what the product did for you. One slip into "we" costs the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SLIDE. Say it plainly: I get paid when someone signs up through my link, including anybody tonight. Delivering it yourself, early, converts a liability into proof — number three is a business model available to every person on this call. If asked directly in Q&amp;A whether you work with Score Machine: answer honestly and briefly. Never deny a relationship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WITH YOUR OWN TRUE SPECIFICS. No revenue figure on this slide — a dollar amount is an earnings claim. End pointed at them: "and that is the last I will say about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not going to guarantee you an approval or tell you your score is going up 100 points. Nobody honest can. What I can do is show you the ten questions every lender asks about your file — and then show you your own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ninety minutes on one slide. Tell them to screenshot it. Everything from here just fills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score gets you considered. It does not get you approved. Two different events, and nobody is taught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data. Different scores. Most people have three files and assume they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your last denial. Right now. Which bureau did that lender pull? Pause. Let it be uncomfortable.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#5 — near-universal, and it is an admission rather than an agreement, which is stronger. Once they have typed it they have told themselves they have a gap. Follow with: "That is not your fault. Nobody ever told you it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nobody tells you. It is not just a few points off a score. Inquiries lower the dollar amount a bank is willing to hand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#6 — establishes you as the one who told them. This is the authority beat of Act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five thousand. This person is not getting a smaller approval — they are getting nothing, from anyone. And they would have kept applying.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it feels like it is getting worse even though you are trying harder. You ARE trying harder. Every attempt is costing you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#7 — they are now agreeing to your diagnosis of their own history. Everything after this is built on that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does the data entry. You do not type a name, an address, or an account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traffic light. If you can drive a car, you can read a credit file. That is genuinely the whole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#8 — deliberately easy and a little funny. Resets the energy after eight heavy minutes and plants the belief that this is learnable, right before you show them the ten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That is what stands between you and every approval you have been denied. NOTE: line 5 direction must be locked before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#9 — the value moment. They just received something they did not have. Get them to say so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read the line, you tell me. Do not be shy — you already know how to do this, you just have not been allowed to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LONGEST SLIDE IN THE DECK. Walk it one line at a time. Let the room answer each one out loud. DO NOT answer for them. (Marks shown are an example — replace with your actual demo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difference between how they felt walking in and how they feel now. "Bad credit" is a feeling. Four red lines is a to-do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approved file. Same ten questions. Completely different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#11 — THE PIVOT from agreeing to WANTING. Most important ask before the offer: the first time they state a desire instead of confirming a fact. Do not skip it,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you came here tonight for the first three. Nobody told you the last three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#12 — primes them to hunt for their own number, which keeps all six avatars watching the rest of the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score is a summary. Your factors are the reasons. Lenders read the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letters get template responses. The bureaus have seen the same letter ten thousand times — that is how you end up with stall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slide where you could not tell me which bureau your last denial pulled. This is what fixes that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#13 — opens the second tier and measures how operator-minded the room is. Big YES wall: slow down on the next two. Thin: move through them and spend the time on referrals.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consultation sells itself — you show them their own file and ask one question. BE STRAIGHT: credit repair is a regulated business with state requirements. The software is the engine, not the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people charge ten and fifteen percent for. The hard part was never the paperwork — it was knowing whether the file could get approved before you burned an inquiry finding out. NO EARNINGS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have to run a single client file to benefit. If all you ever do is send it to people in your circle who keep getting denied, that is a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yourself on this list. Most of you are on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#14 — someone typing "1, 3, 6" is telling you and themselves that this is worth more than one thing to them. That multiplies perceived value right before the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ten questions. Different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with yourself. Most of this room is the file on the left. That is not a character flaw — it is a starting point, and now it is a measurable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levers. The third one is free — it just requires knowing something you did not know an hour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#15 — the last micro-yes before money enters the room. They have just agreed the fix is affordable. That is the frame you want them holding when the price appears four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that is what this was always about. Not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#16 — agreement on the bundle before it has a price. Now the stack is answering "how much," not "whether."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line by line. Name each one and tie it to the use case it powers. Nothing here should be new information by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sit. Say nothing for a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dollar to get started. Seven days. After that it is $97 a month — your card gets charged $97 on [STATE THE EXACT DATE]. No surprises, no small print. If it is not for you, cancel inside the seven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#17 — THE COMMITMENT. Every yes before this one was practice for this one. Wait through the silence — it always feels longer than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trial is not "poke around and see." You have one job in seven days: find out what your own ten lines actually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six out loud, slowly. Every person in the room should hear their own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you not start than start expecting a miracle. This is a tool. A very good one. It is not magic, and it is not a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link out loud. Have someone drop it in chat now, and again in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YOUR REFERRAL LINK. Test it logged-out before going live — confirm it charges $1, runs 7 days, and rebills at $97.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#18 — two jobs at once: confirms the link actually reached people, and puts visible evidence in the chat that others are moving. That is the most persuasive thing on screen at this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BEFORE THE DEMO. "You were never bad with credit — you were playing a game nobody showed you the rules to. Get started now, then watch me use the exact thing you just got. Everybody else: watch anyway, and decide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RULES: no live pulls — files pre-pulled hours ahead. Full-resolution screenshots of every beat as backup. Everything anonymized. Never demo a module you know is broken. If the platform stalls, move to screenshots without announcing it. Cut beats from the end, never the Blueprint. BEATS: 1 upload · 2 AI file analysis · 3 Blueprint live · 4 personals mismatch · 5 utilization 101% · 6 paydown calculator · 7 negative items · 8 AI letters · 9 print + certified mail · 10 progress report · 11 bank + bureau matching · 12 client/consultation view · 13 referral link · 14 a green file. Call the use-case number out loud on every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ASK — after beat 3 (the Blueprint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ASK — after beat 6 (the paydown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ASK — after beat 14 (the green file). This one warms them for the second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ASK. This is what actually converts the room — do not rush past it into questions. Everyone undecided forty-five minutes ago just watched it work. Say the price, say the rebill date, say the link, then give fifteen seconds of silence before you take the first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#22 — the second ask. Fifteen seconds of silence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the entire Q&amp;A. Late arrivals can still read the Blueprint and still find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77240" y="1234440"/>
            <a:ext cx="155448" cy="155448"/>
          </a:xfrm>
          <a:prstGeom prst="ellipse">
            <a:avLst/>
          </a:prstGeom>
          <a:solidFill>
            <a:srgbClr val="D61A20"/>
          </a:solidFill>
          <a:ln/>
        </p:spPr>
      </p:sp>
      <p:sp>
        <p:nvSpPr>
          <p:cNvPr id="3" name="Shape 1"/>
          <p:cNvSpPr/>
          <p:nvPr/>
        </p:nvSpPr>
        <p:spPr>
          <a:xfrm>
            <a:off x="1033272" y="1234440"/>
            <a:ext cx="155448" cy="155448"/>
          </a:xfrm>
          <a:prstGeom prst="ellipse">
            <a:avLst/>
          </a:prstGeom>
          <a:solidFill>
            <a:srgbClr val="D6A83A"/>
          </a:solidFill>
          <a:ln/>
        </p:spPr>
      </p:sp>
      <p:sp>
        <p:nvSpPr>
          <p:cNvPr id="4" name="Shape 2"/>
          <p:cNvSpPr/>
          <p:nvPr/>
        </p:nvSpPr>
        <p:spPr>
          <a:xfrm>
            <a:off x="1289304" y="1234440"/>
            <a:ext cx="155448" cy="155448"/>
          </a:xfrm>
          <a:prstGeom prst="ellipse">
            <a:avLst/>
          </a:prstGeom>
          <a:solidFill>
            <a:srgbClr val="2ECC34"/>
          </a:solidFill>
          <a:ln/>
        </p:spPr>
      </p:sp>
      <p:sp>
        <p:nvSpPr>
          <p:cNvPr id="5" name="Text 3"/>
          <p:cNvSpPr txBox="1"/>
          <p:nvPr/>
        </p:nvSpPr>
        <p:spPr>
          <a:xfrm>
            <a:off x="777240" y="1645920"/>
            <a:ext cx="10607040" cy="2011680"/>
          </a:xfrm>
          <a:prstGeom prst="rect">
            <a:avLst/>
          </a:prstGeom>
          <a:noFill/>
          <a:ln/>
        </p:spPr>
        <p:txBody>
          <a:bodyPr wrap="square" lIns="0" tIns="0" rIns="0" bIns="0" rtlCol="0" anchor="ctr"/>
          <a:lstStyle/>
          <a:p>
            <a:pPr indent="0" marL="0">
              <a:lnSpc>
                <a:spcPts val="8000"/>
              </a:lnSpc>
              <a:buNone/>
            </a:pPr>
            <a:r>
              <a:rPr lang="en-US" sz="7200" b="1" dirty="0">
                <a:solidFill>
                  <a:srgbClr val="FFFFFF"/>
                </a:solidFill>
                <a:latin typeface="Arial" pitchFamily="34" charset="0"/>
                <a:ea typeface="Arial" pitchFamily="34" charset="-122"/>
                <a:cs typeface="Arial" pitchFamily="34" charset="-120"/>
              </a:rPr>
              <a:t>THE SCORE MACHINE</a:t>
            </a:r>
            <a:endParaRPr lang="en-US" sz="7200" dirty="0"/>
          </a:p>
        </p:txBody>
      </p:sp>
      <p:sp>
        <p:nvSpPr>
          <p:cNvPr id="6" name="Text 4"/>
          <p:cNvSpPr txBox="1"/>
          <p:nvPr/>
        </p:nvSpPr>
        <p:spPr>
          <a:xfrm>
            <a:off x="777240" y="3749040"/>
            <a:ext cx="10607040" cy="822960"/>
          </a:xfrm>
          <a:prstGeom prst="rect">
            <a:avLst/>
          </a:prstGeom>
          <a:noFill/>
          <a:ln/>
        </p:spPr>
        <p:txBody>
          <a:bodyPr wrap="square" lIns="0" tIns="0" rIns="0" bIns="0" rtlCol="0" anchor="ctr"/>
          <a:lstStyle/>
          <a:p>
            <a:pPr indent="0" marL="0">
              <a:buNone/>
            </a:pPr>
            <a:r>
              <a:rPr lang="en-US" sz="2400" dirty="0">
                <a:solidFill>
                  <a:srgbClr val="D8DCE1"/>
                </a:solidFill>
                <a:latin typeface="Calibri" pitchFamily="34" charset="0"/>
                <a:ea typeface="Calibri" pitchFamily="34" charset="-122"/>
                <a:cs typeface="Calibri" pitchFamily="34" charset="-120"/>
              </a:rPr>
              <a:t>Why you got denied — and what to do about it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000" b="1" dirty="0">
                <a:solidFill>
                  <a:srgbClr val="FFFFFF"/>
                </a:solidFill>
                <a:latin typeface="Arial" pitchFamily="34" charset="0"/>
                <a:ea typeface="Arial" pitchFamily="34" charset="-122"/>
                <a:cs typeface="Arial" pitchFamily="34" charset="-120"/>
              </a:rPr>
              <a:t>Type YES if you can see my screen</a:t>
            </a:r>
            <a:endParaRPr lang="en-US" sz="4000" dirty="0"/>
          </a:p>
          <a:p>
            <a:pPr indent="0" marL="0">
              <a:lnSpc>
                <a:spcPts val="5600"/>
              </a:lnSpc>
              <a:buNone/>
            </a:pPr>
            <a:r>
              <a:rPr lang="en-US" sz="4000" b="1" dirty="0">
                <a:solidFill>
                  <a:srgbClr val="FFFFFF"/>
                </a:solidFill>
                <a:latin typeface="Arial" pitchFamily="34" charset="0"/>
                <a:ea typeface="Arial" pitchFamily="34" charset="-122"/>
                <a:cs typeface="Arial" pitchFamily="34" charset="-120"/>
              </a:rPr>
              <a:t>and hear me clearly.</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5100" b="1" dirty="0">
                <a:solidFill>
                  <a:srgbClr val="FFFFFF"/>
                </a:solidFill>
                <a:latin typeface="Arial" pitchFamily="34" charset="0"/>
                <a:ea typeface="Arial" pitchFamily="34" charset="-122"/>
                <a:cs typeface="Arial" pitchFamily="34" charset="-120"/>
              </a:rPr>
              <a:t>You didn't get turned down</a:t>
            </a:r>
            <a:endParaRPr lang="en-US" sz="5100" dirty="0"/>
          </a:p>
          <a:p>
            <a:pPr indent="0" marL="0">
              <a:lnSpc>
                <a:spcPts val="6400"/>
              </a:lnSpc>
              <a:buNone/>
            </a:pPr>
            <a:r>
              <a:rPr lang="en-US" sz="5100" b="1" dirty="0">
                <a:solidFill>
                  <a:srgbClr val="FFFFFF"/>
                </a:solidFill>
                <a:latin typeface="Arial" pitchFamily="34" charset="0"/>
                <a:ea typeface="Arial" pitchFamily="34" charset="-122"/>
                <a:cs typeface="Arial" pitchFamily="34" charset="-120"/>
              </a:rPr>
              <a:t>for the reason you think.</a:t>
            </a:r>
            <a:endParaRPr lang="en-US" sz="5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325880"/>
            <a:ext cx="10607040" cy="1097280"/>
          </a:xfrm>
          <a:prstGeom prst="rect">
            <a:avLst/>
          </a:prstGeom>
          <a:noFill/>
          <a:ln/>
        </p:spPr>
        <p:txBody>
          <a:bodyPr wrap="square" lIns="0" tIns="0" rIns="0" bIns="0" rtlCol="0" anchor="ctr"/>
          <a:lstStyle/>
          <a:p>
            <a:pPr algn="l" indent="0" marL="0">
              <a:lnSpc>
                <a:spcPts val="5200"/>
              </a:lnSpc>
              <a:buNone/>
            </a:pPr>
            <a:r>
              <a:rPr lang="en-US" sz="4400" b="1" dirty="0">
                <a:solidFill>
                  <a:srgbClr val="0A0A0C"/>
                </a:solidFill>
                <a:latin typeface="Arial" pitchFamily="34" charset="0"/>
                <a:ea typeface="Arial" pitchFamily="34" charset="-122"/>
                <a:cs typeface="Arial" pitchFamily="34" charset="-120"/>
              </a:rPr>
              <a:t>THE HOUSE</a:t>
            </a:r>
            <a:endParaRPr lang="en-US" sz="4400" dirty="0"/>
          </a:p>
        </p:txBody>
      </p:sp>
      <p:sp>
        <p:nvSpPr>
          <p:cNvPr id="6" name="Text 4"/>
          <p:cNvSpPr txBox="1"/>
          <p:nvPr/>
        </p:nvSpPr>
        <p:spPr>
          <a:xfrm>
            <a:off x="777240" y="2743200"/>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You found the house.</a:t>
            </a:r>
            <a:endParaRPr lang="en-US" sz="3000" dirty="0"/>
          </a:p>
        </p:txBody>
      </p:sp>
      <p:sp>
        <p:nvSpPr>
          <p:cNvPr id="7" name="Text 5"/>
          <p:cNvSpPr txBox="1"/>
          <p:nvPr/>
        </p:nvSpPr>
        <p:spPr>
          <a:xfrm>
            <a:off x="777240" y="3364992"/>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You got pre-approved.</a:t>
            </a:r>
            <a:endParaRPr lang="en-US" sz="3000" dirty="0"/>
          </a:p>
        </p:txBody>
      </p:sp>
      <p:sp>
        <p:nvSpPr>
          <p:cNvPr id="8" name="Text 6"/>
          <p:cNvSpPr txBox="1"/>
          <p:nvPr/>
        </p:nvSpPr>
        <p:spPr>
          <a:xfrm>
            <a:off x="777240" y="3986784"/>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Then you weren't.</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325880"/>
            <a:ext cx="10607040" cy="1097280"/>
          </a:xfrm>
          <a:prstGeom prst="rect">
            <a:avLst/>
          </a:prstGeom>
          <a:noFill/>
          <a:ln/>
        </p:spPr>
        <p:txBody>
          <a:bodyPr wrap="square" lIns="0" tIns="0" rIns="0" bIns="0" rtlCol="0" anchor="ctr"/>
          <a:lstStyle/>
          <a:p>
            <a:pPr algn="l" indent="0" marL="0">
              <a:lnSpc>
                <a:spcPts val="5200"/>
              </a:lnSpc>
              <a:buNone/>
            </a:pPr>
            <a:r>
              <a:rPr lang="en-US" sz="4400" b="1" dirty="0">
                <a:solidFill>
                  <a:srgbClr val="0A0A0C"/>
                </a:solidFill>
                <a:latin typeface="Arial" pitchFamily="34" charset="0"/>
                <a:ea typeface="Arial" pitchFamily="34" charset="-122"/>
                <a:cs typeface="Arial" pitchFamily="34" charset="-120"/>
              </a:rPr>
              <a:t>THE CAR</a:t>
            </a:r>
            <a:endParaRPr lang="en-US" sz="4400" dirty="0"/>
          </a:p>
        </p:txBody>
      </p:sp>
      <p:sp>
        <p:nvSpPr>
          <p:cNvPr id="6" name="Text 4"/>
          <p:cNvSpPr txBox="1"/>
          <p:nvPr/>
        </p:nvSpPr>
        <p:spPr>
          <a:xfrm>
            <a:off x="777240" y="2743200"/>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You need the car to get to work.</a:t>
            </a:r>
            <a:endParaRPr lang="en-US" sz="3000" dirty="0"/>
          </a:p>
        </p:txBody>
      </p:sp>
      <p:sp>
        <p:nvSpPr>
          <p:cNvPr id="7" name="Text 5"/>
          <p:cNvSpPr txBox="1"/>
          <p:nvPr/>
        </p:nvSpPr>
        <p:spPr>
          <a:xfrm>
            <a:off x="777240" y="3364992"/>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The job is what feeds your family.</a:t>
            </a:r>
            <a:endParaRPr lang="en-US" sz="3000" dirty="0"/>
          </a:p>
        </p:txBody>
      </p:sp>
      <p:sp>
        <p:nvSpPr>
          <p:cNvPr id="8" name="Text 6"/>
          <p:cNvSpPr txBox="1"/>
          <p:nvPr/>
        </p:nvSpPr>
        <p:spPr>
          <a:xfrm>
            <a:off x="777240" y="3986784"/>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The denial costs you both.</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3500" b="1" dirty="0">
                <a:solidFill>
                  <a:srgbClr val="FFFFFF"/>
                </a:solidFill>
                <a:latin typeface="Arial" pitchFamily="34" charset="0"/>
                <a:ea typeface="Arial" pitchFamily="34" charset="-122"/>
                <a:cs typeface="Arial" pitchFamily="34" charset="-120"/>
              </a:rPr>
              <a:t>Type YES if a denial has ever cost you</a:t>
            </a:r>
            <a:endParaRPr lang="en-US" sz="3500" dirty="0"/>
          </a:p>
          <a:p>
            <a:pPr indent="0" marL="0">
              <a:lnSpc>
                <a:spcPts val="5600"/>
              </a:lnSpc>
              <a:buNone/>
            </a:pPr>
            <a:r>
              <a:rPr lang="en-US" sz="3500" b="1" dirty="0">
                <a:solidFill>
                  <a:srgbClr val="FFFFFF"/>
                </a:solidFill>
                <a:latin typeface="Arial" pitchFamily="34" charset="0"/>
                <a:ea typeface="Arial" pitchFamily="34" charset="-122"/>
                <a:cs typeface="Arial" pitchFamily="34" charset="-120"/>
              </a:rPr>
              <a:t>something that mattered more</a:t>
            </a:r>
            <a:endParaRPr lang="en-US" sz="3500" dirty="0"/>
          </a:p>
          <a:p>
            <a:pPr indent="0" marL="0">
              <a:lnSpc>
                <a:spcPts val="5600"/>
              </a:lnSpc>
              <a:buNone/>
            </a:pPr>
            <a:r>
              <a:rPr lang="en-US" sz="3500" b="1" dirty="0">
                <a:solidFill>
                  <a:srgbClr val="FFFFFF"/>
                </a:solidFill>
                <a:latin typeface="Arial" pitchFamily="34" charset="0"/>
                <a:ea typeface="Arial" pitchFamily="34" charset="-122"/>
                <a:cs typeface="Arial" pitchFamily="34" charset="-120"/>
              </a:rPr>
              <a:t>than the money.</a:t>
            </a:r>
            <a:endParaRPr lang="en-US" sz="3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325880"/>
            <a:ext cx="10607040" cy="1097280"/>
          </a:xfrm>
          <a:prstGeom prst="rect">
            <a:avLst/>
          </a:prstGeom>
          <a:noFill/>
          <a:ln/>
        </p:spPr>
        <p:txBody>
          <a:bodyPr wrap="square" lIns="0" tIns="0" rIns="0" bIns="0" rtlCol="0" anchor="ctr"/>
          <a:lstStyle/>
          <a:p>
            <a:pPr algn="l" indent="0" marL="0">
              <a:lnSpc>
                <a:spcPts val="5200"/>
              </a:lnSpc>
              <a:buNone/>
            </a:pPr>
            <a:r>
              <a:rPr lang="en-US" sz="4400" b="1" dirty="0">
                <a:solidFill>
                  <a:srgbClr val="0A0A0C"/>
                </a:solidFill>
                <a:latin typeface="Arial" pitchFamily="34" charset="0"/>
                <a:ea typeface="Arial" pitchFamily="34" charset="-122"/>
                <a:cs typeface="Arial" pitchFamily="34" charset="-120"/>
              </a:rPr>
              <a:t>THE CONTRACT</a:t>
            </a:r>
            <a:endParaRPr lang="en-US" sz="4400" dirty="0"/>
          </a:p>
        </p:txBody>
      </p:sp>
      <p:sp>
        <p:nvSpPr>
          <p:cNvPr id="6" name="Text 4"/>
          <p:cNvSpPr txBox="1"/>
          <p:nvPr/>
        </p:nvSpPr>
        <p:spPr>
          <a:xfrm>
            <a:off x="777240" y="2743200"/>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The contract was yours.</a:t>
            </a:r>
            <a:endParaRPr lang="en-US" sz="3000" dirty="0"/>
          </a:p>
        </p:txBody>
      </p:sp>
      <p:sp>
        <p:nvSpPr>
          <p:cNvPr id="7" name="Text 5"/>
          <p:cNvSpPr txBox="1"/>
          <p:nvPr/>
        </p:nvSpPr>
        <p:spPr>
          <a:xfrm>
            <a:off x="777240" y="3364992"/>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You didn't have the capital to staff it.</a:t>
            </a:r>
            <a:endParaRPr lang="en-US" sz="3000" dirty="0"/>
          </a:p>
        </p:txBody>
      </p:sp>
      <p:sp>
        <p:nvSpPr>
          <p:cNvPr id="8" name="Text 6"/>
          <p:cNvSpPr txBox="1"/>
          <p:nvPr/>
        </p:nvSpPr>
        <p:spPr>
          <a:xfrm>
            <a:off x="777240" y="3986784"/>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So you watched someone else take it.</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6200" b="1" dirty="0">
                <a:solidFill>
                  <a:srgbClr val="0A0A0C"/>
                </a:solidFill>
                <a:latin typeface="Arial" pitchFamily="34" charset="0"/>
                <a:ea typeface="Arial" pitchFamily="34" charset="-122"/>
                <a:cs typeface="Arial" pitchFamily="34" charset="-120"/>
              </a:rPr>
              <a:t>NOBODY WANTS</a:t>
            </a:r>
            <a:endParaRPr lang="en-US" sz="6200" dirty="0"/>
          </a:p>
          <a:p>
            <a:pPr indent="0" marL="0">
              <a:lnSpc>
                <a:spcPts val="6400"/>
              </a:lnSpc>
              <a:buNone/>
            </a:pPr>
            <a:r>
              <a:rPr lang="en-US" sz="6200" b="1" dirty="0">
                <a:solidFill>
                  <a:srgbClr val="0A0A0C"/>
                </a:solidFill>
                <a:latin typeface="Arial" pitchFamily="34" charset="0"/>
                <a:ea typeface="Arial" pitchFamily="34" charset="-122"/>
                <a:cs typeface="Arial" pitchFamily="34" charset="-120"/>
              </a:rPr>
              <a:t>A CREDIT SCORE.</a:t>
            </a:r>
            <a:endParaRPr lang="en-US" sz="6200" dirty="0"/>
          </a:p>
        </p:txBody>
      </p:sp>
      <p:sp>
        <p:nvSpPr>
          <p:cNvPr id="6" name="Text 4"/>
          <p:cNvSpPr txBox="1"/>
          <p:nvPr/>
        </p:nvSpPr>
        <p:spPr>
          <a:xfrm>
            <a:off x="777240" y="4114800"/>
            <a:ext cx="10607040" cy="1005840"/>
          </a:xfrm>
          <a:prstGeom prst="rect">
            <a:avLst/>
          </a:prstGeom>
          <a:noFill/>
          <a:ln/>
        </p:spPr>
        <p:txBody>
          <a:bodyPr wrap="square" lIns="0" tIns="0" rIns="0" bIns="0" rtlCol="0" anchor="ctr"/>
          <a:lstStyle/>
          <a:p>
            <a:pPr indent="0" marL="0">
              <a:buNone/>
            </a:pPr>
            <a:r>
              <a:rPr lang="en-US" sz="2600" dirty="0">
                <a:solidFill>
                  <a:srgbClr val="2A2E33"/>
                </a:solidFill>
                <a:latin typeface="Calibri" pitchFamily="34" charset="0"/>
                <a:ea typeface="Calibri" pitchFamily="34" charset="-122"/>
                <a:cs typeface="Calibri" pitchFamily="34" charset="-120"/>
              </a:rPr>
              <a:t>They want what it unlocks.</a:t>
            </a:r>
            <a:endParaRPr lang="en-US"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4200" b="1" dirty="0">
                <a:solidFill>
                  <a:srgbClr val="0A0A0C"/>
                </a:solidFill>
                <a:latin typeface="Arial" pitchFamily="34" charset="0"/>
                <a:ea typeface="Arial" pitchFamily="34" charset="-122"/>
                <a:cs typeface="Arial" pitchFamily="34" charset="-120"/>
              </a:rPr>
              <a:t>This isn't a class about credit.</a:t>
            </a:r>
            <a:endParaRPr lang="en-US" sz="4200" dirty="0"/>
          </a:p>
          <a:p>
            <a:pPr indent="0" marL="0">
              <a:lnSpc>
                <a:spcPts val="6400"/>
              </a:lnSpc>
              <a:buNone/>
            </a:pPr>
            <a:r>
              <a:rPr lang="en-US" sz="4200" b="1" dirty="0">
                <a:solidFill>
                  <a:srgbClr val="0A0A0C"/>
                </a:solidFill>
                <a:latin typeface="Arial" pitchFamily="34" charset="0"/>
                <a:ea typeface="Arial" pitchFamily="34" charset="-122"/>
                <a:cs typeface="Arial" pitchFamily="34" charset="-120"/>
              </a:rPr>
              <a:t>It's a class about approvals.</a:t>
            </a:r>
            <a:endParaRPr lang="en-US" sz="4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3200" b="1" dirty="0">
                <a:solidFill>
                  <a:srgbClr val="0A0A0C"/>
                </a:solidFill>
                <a:latin typeface="Arial" pitchFamily="34" charset="0"/>
                <a:ea typeface="Arial" pitchFamily="34" charset="-122"/>
                <a:cs typeface="Arial" pitchFamily="34" charset="-120"/>
              </a:rPr>
              <a:t>LET'S SEE IF I'M DESCRIBING YOUR SITUATION</a:t>
            </a:r>
            <a:endParaRPr lang="en-US" sz="32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Denied — and the letter never really told you why</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Your score is "fine." 640. 700. Still denied.</a:t>
            </a:r>
            <a:endParaRPr lang="en-US" sz="2100" dirty="0"/>
          </a:p>
        </p:txBody>
      </p:sp>
      <p:sp>
        <p:nvSpPr>
          <p:cNvPr id="10" name="Shape 8"/>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1" name="Text 9"/>
          <p:cNvSpPr txBox="1"/>
          <p:nvPr/>
        </p:nvSpPr>
        <p:spPr>
          <a:xfrm>
            <a:off x="1161288" y="4142232"/>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Solid card, still stuck at a $500 limit, calling it progress</a:t>
            </a:r>
            <a:endParaRPr lang="en-US" sz="2100" dirty="0"/>
          </a:p>
        </p:txBody>
      </p:sp>
      <p:sp>
        <p:nvSpPr>
          <p:cNvPr id="12" name="Shape 10"/>
          <p:cNvSpPr/>
          <p:nvPr/>
        </p:nvSpPr>
        <p:spPr>
          <a:xfrm>
            <a:off x="777240" y="5047488"/>
            <a:ext cx="10607040" cy="777240"/>
          </a:xfrm>
          <a:prstGeom prst="roundRect">
            <a:avLst>
              <a:gd name="adj" fmla="val 11765"/>
            </a:avLst>
          </a:prstGeom>
          <a:solidFill>
            <a:srgbClr val="FFFFFF"/>
          </a:solidFill>
          <a:ln w="12700">
            <a:solidFill>
              <a:srgbClr val="DFE3E7"/>
            </a:solidFill>
            <a:prstDash val="solid"/>
          </a:ln>
        </p:spPr>
      </p:sp>
      <p:sp>
        <p:nvSpPr>
          <p:cNvPr id="13" name="Text 11"/>
          <p:cNvSpPr txBox="1"/>
          <p:nvPr/>
        </p:nvSpPr>
        <p:spPr>
          <a:xfrm>
            <a:off x="1161288" y="5047488"/>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You have cards. You still aren't fundable.</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even one</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of those four is you.</a:t>
            </a:r>
            <a:endParaRPr lang="en-US" sz="4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BOTH ROOMS. ONE MACHINE.</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Some of you are here for personal credit</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Some of you are here for business funding</a:t>
            </a:r>
            <a:endParaRPr lang="en-US" sz="2100" dirty="0"/>
          </a:p>
        </p:txBody>
      </p:sp>
      <p:sp>
        <p:nvSpPr>
          <p:cNvPr id="10" name="Shape 8"/>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1" name="Text 9"/>
          <p:cNvSpPr txBox="1"/>
          <p:nvPr/>
        </p:nvSpPr>
        <p:spPr>
          <a:xfrm>
            <a:off x="1161288" y="4142232"/>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Same file. Same rules. Same machine.</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1 for personal credit.</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2 for business funding.</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3 if it's both.</a:t>
            </a:r>
            <a:endParaRPr lang="en-US" sz="4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325880"/>
            <a:ext cx="10607040" cy="1097280"/>
          </a:xfrm>
          <a:prstGeom prst="rect">
            <a:avLst/>
          </a:prstGeom>
          <a:noFill/>
          <a:ln/>
        </p:spPr>
        <p:txBody>
          <a:bodyPr wrap="square" lIns="0" tIns="0" rIns="0" bIns="0" rtlCol="0" anchor="ctr"/>
          <a:lstStyle/>
          <a:p>
            <a:pPr algn="l" indent="0" marL="0">
              <a:lnSpc>
                <a:spcPts val="5200"/>
              </a:lnSpc>
              <a:buNone/>
            </a:pPr>
            <a:r>
              <a:rPr lang="en-US" sz="4400" b="1" dirty="0">
                <a:solidFill>
                  <a:srgbClr val="0A0A0C"/>
                </a:solidFill>
                <a:latin typeface="Arial" pitchFamily="34" charset="0"/>
                <a:ea typeface="Arial" pitchFamily="34" charset="-122"/>
                <a:cs typeface="Arial" pitchFamily="34" charset="-120"/>
              </a:rPr>
              <a:t>WHO I AM</a:t>
            </a:r>
            <a:endParaRPr lang="en-US" sz="4400" dirty="0"/>
          </a:p>
        </p:txBody>
      </p:sp>
      <p:sp>
        <p:nvSpPr>
          <p:cNvPr id="6" name="Text 4"/>
          <p:cNvSpPr txBox="1"/>
          <p:nvPr/>
        </p:nvSpPr>
        <p:spPr>
          <a:xfrm>
            <a:off x="777240" y="2743200"/>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[Your name] — Owner, Get AI Leads Now</a:t>
            </a:r>
            <a:endParaRPr lang="en-US" sz="3000" dirty="0"/>
          </a:p>
        </p:txBody>
      </p:sp>
      <p:sp>
        <p:nvSpPr>
          <p:cNvPr id="7" name="Text 5"/>
          <p:cNvSpPr txBox="1"/>
          <p:nvPr/>
        </p:nvSpPr>
        <p:spPr>
          <a:xfrm>
            <a:off x="777240" y="3364992"/>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I'm not a credit repair company.</a:t>
            </a:r>
            <a:endParaRPr lang="en-US" sz="3000" dirty="0"/>
          </a:p>
        </p:txBody>
      </p:sp>
      <p:sp>
        <p:nvSpPr>
          <p:cNvPr id="8" name="Text 6"/>
          <p:cNvSpPr txBox="1"/>
          <p:nvPr/>
        </p:nvSpPr>
        <p:spPr>
          <a:xfrm>
            <a:off x="777240" y="3986784"/>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I'm a business owner who uses this software.</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3800" b="1" dirty="0">
                <a:solidFill>
                  <a:srgbClr val="0A0A0C"/>
                </a:solidFill>
                <a:latin typeface="Arial" pitchFamily="34" charset="0"/>
                <a:ea typeface="Arial" pitchFamily="34" charset="-122"/>
                <a:cs typeface="Arial" pitchFamily="34" charset="-120"/>
              </a:rPr>
              <a:t>THE THREE WAYS I MAKE MONEY WITH IT</a:t>
            </a:r>
            <a:endParaRPr lang="en-US" sz="38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Shape 5"/>
          <p:cNvSpPr/>
          <p:nvPr/>
        </p:nvSpPr>
        <p:spPr>
          <a:xfrm>
            <a:off x="996696" y="2519172"/>
            <a:ext cx="402336" cy="402336"/>
          </a:xfrm>
          <a:prstGeom prst="ellipse">
            <a:avLst/>
          </a:prstGeom>
          <a:solidFill>
            <a:srgbClr val="0A0A0C"/>
          </a:solidFill>
          <a:ln/>
        </p:spPr>
      </p:sp>
      <p:sp>
        <p:nvSpPr>
          <p:cNvPr id="8" name="Text 6"/>
          <p:cNvSpPr txBox="1"/>
          <p:nvPr/>
        </p:nvSpPr>
        <p:spPr>
          <a:xfrm>
            <a:off x="996696" y="251917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618488" y="2331720"/>
            <a:ext cx="9418320" cy="77724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On my own file — I know where I stand before I ever apply</a:t>
            </a:r>
            <a:endParaRPr lang="en-US" sz="1900" dirty="0"/>
          </a:p>
        </p:txBody>
      </p:sp>
      <p:sp>
        <p:nvSpPr>
          <p:cNvPr id="10" name="Shape 8"/>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11" name="Shape 9"/>
          <p:cNvSpPr/>
          <p:nvPr/>
        </p:nvSpPr>
        <p:spPr>
          <a:xfrm>
            <a:off x="996696" y="3424428"/>
            <a:ext cx="402336" cy="402336"/>
          </a:xfrm>
          <a:prstGeom prst="ellipse">
            <a:avLst/>
          </a:prstGeom>
          <a:solidFill>
            <a:srgbClr val="0A0A0C"/>
          </a:solidFill>
          <a:ln/>
        </p:spPr>
      </p:sp>
      <p:sp>
        <p:nvSpPr>
          <p:cNvPr id="12" name="Text 10"/>
          <p:cNvSpPr txBox="1"/>
          <p:nvPr/>
        </p:nvSpPr>
        <p:spPr>
          <a:xfrm>
            <a:off x="996696" y="342442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618488" y="3236976"/>
            <a:ext cx="9418320" cy="77724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For my clients — I help them get funded, and I charge for that</a:t>
            </a:r>
            <a:endParaRPr lang="en-US" sz="1900" dirty="0"/>
          </a:p>
        </p:txBody>
      </p:sp>
      <p:sp>
        <p:nvSpPr>
          <p:cNvPr id="14" name="Shape 12"/>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5" name="Shape 13"/>
          <p:cNvSpPr/>
          <p:nvPr/>
        </p:nvSpPr>
        <p:spPr>
          <a:xfrm>
            <a:off x="996696" y="4329684"/>
            <a:ext cx="402336" cy="402336"/>
          </a:xfrm>
          <a:prstGeom prst="ellipse">
            <a:avLst/>
          </a:prstGeom>
          <a:solidFill>
            <a:srgbClr val="0A0A0C"/>
          </a:solidFill>
          <a:ln/>
        </p:spPr>
      </p:sp>
      <p:sp>
        <p:nvSpPr>
          <p:cNvPr id="16" name="Text 14"/>
          <p:cNvSpPr txBox="1"/>
          <p:nvPr/>
        </p:nvSpPr>
        <p:spPr>
          <a:xfrm>
            <a:off x="996696" y="432968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618488" y="4142232"/>
            <a:ext cx="9418320" cy="77724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By referring it — I earn when you use my link. Tonight included.</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325880"/>
            <a:ext cx="10607040" cy="1097280"/>
          </a:xfrm>
          <a:prstGeom prst="rect">
            <a:avLst/>
          </a:prstGeom>
          <a:noFill/>
          <a:ln/>
        </p:spPr>
        <p:txBody>
          <a:bodyPr wrap="square" lIns="0" tIns="0" rIns="0" bIns="0" rtlCol="0" anchor="ctr"/>
          <a:lstStyle/>
          <a:p>
            <a:pPr algn="l" indent="0" marL="0">
              <a:lnSpc>
                <a:spcPts val="5200"/>
              </a:lnSpc>
              <a:buNone/>
            </a:pPr>
            <a:r>
              <a:rPr lang="en-US" sz="4400" b="1" dirty="0">
                <a:solidFill>
                  <a:srgbClr val="0A0A0C"/>
                </a:solidFill>
                <a:latin typeface="Arial" pitchFamily="34" charset="0"/>
                <a:ea typeface="Arial" pitchFamily="34" charset="-122"/>
                <a:cs typeface="Arial" pitchFamily="34" charset="-120"/>
              </a:rPr>
              <a:t>WHAT CHANGED IN MY BUSINESS</a:t>
            </a:r>
            <a:endParaRPr lang="en-US" sz="4400" dirty="0"/>
          </a:p>
        </p:txBody>
      </p:sp>
      <p:sp>
        <p:nvSpPr>
          <p:cNvPr id="6" name="Text 4"/>
          <p:cNvSpPr txBox="1"/>
          <p:nvPr/>
        </p:nvSpPr>
        <p:spPr>
          <a:xfrm>
            <a:off x="777240" y="2743200"/>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Before: a client asked about funding — I had nothing.</a:t>
            </a:r>
            <a:endParaRPr lang="en-US" sz="3000" dirty="0"/>
          </a:p>
        </p:txBody>
      </p:sp>
      <p:sp>
        <p:nvSpPr>
          <p:cNvPr id="7" name="Text 5"/>
          <p:cNvSpPr txBox="1"/>
          <p:nvPr/>
        </p:nvSpPr>
        <p:spPr>
          <a:xfrm>
            <a:off x="777240" y="3364992"/>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Now: I read their file in minutes.</a:t>
            </a:r>
            <a:endParaRPr lang="en-US" sz="3000" dirty="0"/>
          </a:p>
        </p:txBody>
      </p:sp>
      <p:sp>
        <p:nvSpPr>
          <p:cNvPr id="8" name="Text 6"/>
          <p:cNvSpPr txBox="1"/>
          <p:nvPr/>
        </p:nvSpPr>
        <p:spPr>
          <a:xfrm>
            <a:off x="777240" y="3986784"/>
            <a:ext cx="10607040" cy="566928"/>
          </a:xfrm>
          <a:prstGeom prst="rect">
            <a:avLst/>
          </a:prstGeom>
          <a:noFill/>
          <a:ln/>
        </p:spPr>
        <p:txBody>
          <a:bodyPr wrap="square" lIns="0" tIns="0" rIns="0" bIns="0" rtlCol="0" anchor="ctr"/>
          <a:lstStyle/>
          <a:p>
            <a:pPr indent="0" marL="0">
              <a:buNone/>
            </a:pPr>
            <a:r>
              <a:rPr lang="en-US" sz="3000" dirty="0">
                <a:solidFill>
                  <a:srgbClr val="2A2E33"/>
                </a:solidFill>
                <a:latin typeface="Calibri" pitchFamily="34" charset="0"/>
                <a:ea typeface="Calibri" pitchFamily="34" charset="-122"/>
                <a:cs typeface="Calibri" pitchFamily="34" charset="-120"/>
              </a:rPr>
              <a:t>New service. Same clients.</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77240" y="822960"/>
            <a:ext cx="155448" cy="155448"/>
          </a:xfrm>
          <a:prstGeom prst="ellipse">
            <a:avLst/>
          </a:prstGeom>
          <a:solidFill>
            <a:srgbClr val="D61A20"/>
          </a:solidFill>
          <a:ln/>
        </p:spPr>
      </p:sp>
      <p:sp>
        <p:nvSpPr>
          <p:cNvPr id="3" name="Shape 1"/>
          <p:cNvSpPr/>
          <p:nvPr/>
        </p:nvSpPr>
        <p:spPr>
          <a:xfrm>
            <a:off x="1033272" y="822960"/>
            <a:ext cx="155448" cy="155448"/>
          </a:xfrm>
          <a:prstGeom prst="ellipse">
            <a:avLst/>
          </a:prstGeom>
          <a:solidFill>
            <a:srgbClr val="D6A83A"/>
          </a:solidFill>
          <a:ln/>
        </p:spPr>
      </p:sp>
      <p:sp>
        <p:nvSpPr>
          <p:cNvPr id="4" name="Shape 2"/>
          <p:cNvSpPr/>
          <p:nvPr/>
        </p:nvSpPr>
        <p:spPr>
          <a:xfrm>
            <a:off x="1289304" y="822960"/>
            <a:ext cx="155448" cy="155448"/>
          </a:xfrm>
          <a:prstGeom prst="ellipse">
            <a:avLst/>
          </a:prstGeom>
          <a:solidFill>
            <a:srgbClr val="2ECC34"/>
          </a:solidFill>
          <a:ln/>
        </p:spPr>
      </p:sp>
      <p:sp>
        <p:nvSpPr>
          <p:cNvPr id="5" name="Text 3"/>
          <p:cNvSpPr txBox="1"/>
          <p:nvPr/>
        </p:nvSpPr>
        <p:spPr>
          <a:xfrm>
            <a:off x="777240" y="1143000"/>
            <a:ext cx="10607040" cy="82296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LET ME BE STRAIGHT WITH YOU</a:t>
            </a:r>
            <a:endParaRPr lang="en-US" sz="4000" dirty="0"/>
          </a:p>
        </p:txBody>
      </p:sp>
      <p:sp>
        <p:nvSpPr>
          <p:cNvPr id="6" name="Shape 4"/>
          <p:cNvSpPr/>
          <p:nvPr/>
        </p:nvSpPr>
        <p:spPr>
          <a:xfrm>
            <a:off x="777240" y="2286000"/>
            <a:ext cx="5120640" cy="3246120"/>
          </a:xfrm>
          <a:prstGeom prst="roundRect">
            <a:avLst>
              <a:gd name="adj" fmla="val 3380"/>
            </a:avLst>
          </a:prstGeom>
          <a:solidFill>
            <a:srgbClr val="FFFFFF"/>
          </a:solidFill>
          <a:ln w="12700">
            <a:solidFill>
              <a:srgbClr val="DFE3E7"/>
            </a:solidFill>
            <a:prstDash val="solid"/>
          </a:ln>
        </p:spPr>
      </p:sp>
      <p:sp>
        <p:nvSpPr>
          <p:cNvPr id="7" name="Shape 5"/>
          <p:cNvSpPr/>
          <p:nvPr/>
        </p:nvSpPr>
        <p:spPr>
          <a:xfrm>
            <a:off x="1051560" y="2514600"/>
            <a:ext cx="1371600" cy="411480"/>
          </a:xfrm>
          <a:prstGeom prst="roundRect">
            <a:avLst>
              <a:gd name="adj" fmla="val 17778"/>
            </a:avLst>
          </a:prstGeom>
          <a:solidFill>
            <a:srgbClr val="D61A20"/>
          </a:solidFill>
          <a:ln/>
        </p:spPr>
      </p:sp>
      <p:sp>
        <p:nvSpPr>
          <p:cNvPr id="8" name="Text 6"/>
          <p:cNvSpPr txBox="1"/>
          <p:nvPr/>
        </p:nvSpPr>
        <p:spPr>
          <a:xfrm>
            <a:off x="1051560" y="2514600"/>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WHAT THIS IS</a:t>
            </a:r>
            <a:endParaRPr lang="en-US" sz="1400" dirty="0"/>
          </a:p>
        </p:txBody>
      </p:sp>
      <p:sp>
        <p:nvSpPr>
          <p:cNvPr id="9" name="Text 7"/>
          <p:cNvSpPr txBox="1"/>
          <p:nvPr/>
        </p:nvSpPr>
        <p:spPr>
          <a:xfrm>
            <a:off x="1051560" y="315468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How underwriting reads your file</a:t>
            </a:r>
            <a:endParaRPr lang="en-US" sz="2000" dirty="0"/>
          </a:p>
        </p:txBody>
      </p:sp>
      <p:sp>
        <p:nvSpPr>
          <p:cNvPr id="10" name="Text 8"/>
          <p:cNvSpPr txBox="1"/>
          <p:nvPr/>
        </p:nvSpPr>
        <p:spPr>
          <a:xfrm>
            <a:off x="1051560" y="365760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Software that does it in a minute</a:t>
            </a:r>
            <a:endParaRPr lang="en-US" sz="2000" dirty="0"/>
          </a:p>
        </p:txBody>
      </p:sp>
      <p:sp>
        <p:nvSpPr>
          <p:cNvPr id="11" name="Text 9"/>
          <p:cNvSpPr txBox="1"/>
          <p:nvPr/>
        </p:nvSpPr>
        <p:spPr>
          <a:xfrm>
            <a:off x="1051560" y="416052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Where you actually stand tonight</a:t>
            </a:r>
            <a:endParaRPr lang="en-US" sz="2000" dirty="0"/>
          </a:p>
        </p:txBody>
      </p:sp>
      <p:sp>
        <p:nvSpPr>
          <p:cNvPr id="12" name="Shape 10"/>
          <p:cNvSpPr/>
          <p:nvPr/>
        </p:nvSpPr>
        <p:spPr>
          <a:xfrm>
            <a:off x="6263640" y="2286000"/>
            <a:ext cx="5120640" cy="3246120"/>
          </a:xfrm>
          <a:prstGeom prst="roundRect">
            <a:avLst>
              <a:gd name="adj" fmla="val 3380"/>
            </a:avLst>
          </a:prstGeom>
          <a:solidFill>
            <a:srgbClr val="FFFFFF"/>
          </a:solidFill>
          <a:ln w="12700">
            <a:solidFill>
              <a:srgbClr val="DFE3E7"/>
            </a:solidFill>
            <a:prstDash val="solid"/>
          </a:ln>
        </p:spPr>
      </p:sp>
      <p:sp>
        <p:nvSpPr>
          <p:cNvPr id="13" name="Shape 11"/>
          <p:cNvSpPr/>
          <p:nvPr/>
        </p:nvSpPr>
        <p:spPr>
          <a:xfrm>
            <a:off x="6537960" y="2514600"/>
            <a:ext cx="1371600" cy="411480"/>
          </a:xfrm>
          <a:prstGeom prst="roundRect">
            <a:avLst>
              <a:gd name="adj" fmla="val 17778"/>
            </a:avLst>
          </a:prstGeom>
          <a:solidFill>
            <a:srgbClr val="2ECC34"/>
          </a:solidFill>
          <a:ln/>
        </p:spPr>
      </p:sp>
      <p:sp>
        <p:nvSpPr>
          <p:cNvPr id="14" name="Text 12"/>
          <p:cNvSpPr txBox="1"/>
          <p:nvPr/>
        </p:nvSpPr>
        <p:spPr>
          <a:xfrm>
            <a:off x="6537960" y="2514600"/>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WHAT IT ISN'T</a:t>
            </a:r>
            <a:endParaRPr lang="en-US" sz="1400" dirty="0"/>
          </a:p>
        </p:txBody>
      </p:sp>
      <p:sp>
        <p:nvSpPr>
          <p:cNvPr id="15" name="Text 13"/>
          <p:cNvSpPr txBox="1"/>
          <p:nvPr/>
        </p:nvSpPr>
        <p:spPr>
          <a:xfrm>
            <a:off x="6537960" y="315468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A promise of an approval</a:t>
            </a:r>
            <a:endParaRPr lang="en-US" sz="2000" dirty="0"/>
          </a:p>
        </p:txBody>
      </p:sp>
      <p:sp>
        <p:nvSpPr>
          <p:cNvPr id="16" name="Text 14"/>
          <p:cNvSpPr txBox="1"/>
          <p:nvPr/>
        </p:nvSpPr>
        <p:spPr>
          <a:xfrm>
            <a:off x="6537960" y="365760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A promise of a number</a:t>
            </a:r>
            <a:endParaRPr lang="en-US" sz="2000" dirty="0"/>
          </a:p>
        </p:txBody>
      </p:sp>
      <p:sp>
        <p:nvSpPr>
          <p:cNvPr id="17" name="Text 15"/>
          <p:cNvSpPr txBox="1"/>
          <p:nvPr/>
        </p:nvSpPr>
        <p:spPr>
          <a:xfrm>
            <a:off x="6537960" y="416052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A miracle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THE CHAIN</a:t>
            </a:r>
            <a:endParaRPr lang="en-US" sz="4000" dirty="0"/>
          </a:p>
        </p:txBody>
      </p:sp>
      <p:sp>
        <p:nvSpPr>
          <p:cNvPr id="6" name="Shape 4"/>
          <p:cNvSpPr/>
          <p:nvPr/>
        </p:nvSpPr>
        <p:spPr>
          <a:xfrm>
            <a:off x="777240" y="2331720"/>
            <a:ext cx="10607040" cy="513588"/>
          </a:xfrm>
          <a:prstGeom prst="roundRect">
            <a:avLst>
              <a:gd name="adj" fmla="val 17804"/>
            </a:avLst>
          </a:prstGeom>
          <a:solidFill>
            <a:srgbClr val="FFFFFF"/>
          </a:solidFill>
          <a:ln w="12700">
            <a:solidFill>
              <a:srgbClr val="DFE3E7"/>
            </a:solidFill>
            <a:prstDash val="solid"/>
          </a:ln>
        </p:spPr>
      </p:sp>
      <p:sp>
        <p:nvSpPr>
          <p:cNvPr id="7" name="Shape 5"/>
          <p:cNvSpPr/>
          <p:nvPr/>
        </p:nvSpPr>
        <p:spPr>
          <a:xfrm>
            <a:off x="996696" y="2404872"/>
            <a:ext cx="367284" cy="367284"/>
          </a:xfrm>
          <a:prstGeom prst="ellipse">
            <a:avLst/>
          </a:prstGeom>
          <a:solidFill>
            <a:srgbClr val="0A0A0C"/>
          </a:solidFill>
          <a:ln/>
        </p:spPr>
      </p:sp>
      <p:sp>
        <p:nvSpPr>
          <p:cNvPr id="8" name="Text 6"/>
          <p:cNvSpPr txBox="1"/>
          <p:nvPr/>
        </p:nvSpPr>
        <p:spPr>
          <a:xfrm>
            <a:off x="996696" y="2404872"/>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618488" y="2331720"/>
            <a:ext cx="9418320" cy="513588"/>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You got denied</a:t>
            </a:r>
            <a:endParaRPr lang="en-US" sz="1900" dirty="0"/>
          </a:p>
        </p:txBody>
      </p:sp>
      <p:sp>
        <p:nvSpPr>
          <p:cNvPr id="10" name="Shape 8"/>
          <p:cNvSpPr/>
          <p:nvPr/>
        </p:nvSpPr>
        <p:spPr>
          <a:xfrm>
            <a:off x="777240" y="2973324"/>
            <a:ext cx="10607040" cy="513588"/>
          </a:xfrm>
          <a:prstGeom prst="roundRect">
            <a:avLst>
              <a:gd name="adj" fmla="val 17804"/>
            </a:avLst>
          </a:prstGeom>
          <a:solidFill>
            <a:srgbClr val="FFFFFF"/>
          </a:solidFill>
          <a:ln w="12700">
            <a:solidFill>
              <a:srgbClr val="DFE3E7"/>
            </a:solidFill>
            <a:prstDash val="solid"/>
          </a:ln>
        </p:spPr>
      </p:sp>
      <p:sp>
        <p:nvSpPr>
          <p:cNvPr id="11" name="Shape 9"/>
          <p:cNvSpPr/>
          <p:nvPr/>
        </p:nvSpPr>
        <p:spPr>
          <a:xfrm>
            <a:off x="996696" y="3046476"/>
            <a:ext cx="367284" cy="367284"/>
          </a:xfrm>
          <a:prstGeom prst="ellipse">
            <a:avLst/>
          </a:prstGeom>
          <a:solidFill>
            <a:srgbClr val="0A0A0C"/>
          </a:solidFill>
          <a:ln/>
        </p:spPr>
      </p:sp>
      <p:sp>
        <p:nvSpPr>
          <p:cNvPr id="12" name="Text 10"/>
          <p:cNvSpPr txBox="1"/>
          <p:nvPr/>
        </p:nvSpPr>
        <p:spPr>
          <a:xfrm>
            <a:off x="996696" y="3046476"/>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1618488" y="2973324"/>
            <a:ext cx="9418320" cy="513588"/>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Because inquiries quietly lowered your ceiling</a:t>
            </a:r>
            <a:endParaRPr lang="en-US" sz="1900" dirty="0"/>
          </a:p>
        </p:txBody>
      </p:sp>
      <p:sp>
        <p:nvSpPr>
          <p:cNvPr id="14" name="Shape 12"/>
          <p:cNvSpPr/>
          <p:nvPr/>
        </p:nvSpPr>
        <p:spPr>
          <a:xfrm>
            <a:off x="777240" y="3614928"/>
            <a:ext cx="10607040" cy="513588"/>
          </a:xfrm>
          <a:prstGeom prst="roundRect">
            <a:avLst>
              <a:gd name="adj" fmla="val 17804"/>
            </a:avLst>
          </a:prstGeom>
          <a:solidFill>
            <a:srgbClr val="FFFFFF"/>
          </a:solidFill>
          <a:ln w="12700">
            <a:solidFill>
              <a:srgbClr val="DFE3E7"/>
            </a:solidFill>
            <a:prstDash val="solid"/>
          </a:ln>
        </p:spPr>
      </p:sp>
      <p:sp>
        <p:nvSpPr>
          <p:cNvPr id="15" name="Shape 13"/>
          <p:cNvSpPr/>
          <p:nvPr/>
        </p:nvSpPr>
        <p:spPr>
          <a:xfrm>
            <a:off x="996696" y="3688080"/>
            <a:ext cx="367284" cy="367284"/>
          </a:xfrm>
          <a:prstGeom prst="ellipse">
            <a:avLst/>
          </a:prstGeom>
          <a:solidFill>
            <a:srgbClr val="0A0A0C"/>
          </a:solidFill>
          <a:ln/>
        </p:spPr>
      </p:sp>
      <p:sp>
        <p:nvSpPr>
          <p:cNvPr id="16" name="Text 14"/>
          <p:cNvSpPr txBox="1"/>
          <p:nvPr/>
        </p:nvSpPr>
        <p:spPr>
          <a:xfrm>
            <a:off x="996696" y="3688080"/>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618488" y="3614928"/>
            <a:ext cx="9418320" cy="513588"/>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Because you applied without knowing if you were eligible</a:t>
            </a:r>
            <a:endParaRPr lang="en-US" sz="1900" dirty="0"/>
          </a:p>
        </p:txBody>
      </p:sp>
      <p:sp>
        <p:nvSpPr>
          <p:cNvPr id="18" name="Shape 16"/>
          <p:cNvSpPr/>
          <p:nvPr/>
        </p:nvSpPr>
        <p:spPr>
          <a:xfrm>
            <a:off x="777240" y="4256532"/>
            <a:ext cx="10607040" cy="513588"/>
          </a:xfrm>
          <a:prstGeom prst="roundRect">
            <a:avLst>
              <a:gd name="adj" fmla="val 17804"/>
            </a:avLst>
          </a:prstGeom>
          <a:solidFill>
            <a:srgbClr val="FFFFFF"/>
          </a:solidFill>
          <a:ln w="12700">
            <a:solidFill>
              <a:srgbClr val="DFE3E7"/>
            </a:solidFill>
            <a:prstDash val="solid"/>
          </a:ln>
        </p:spPr>
      </p:sp>
      <p:sp>
        <p:nvSpPr>
          <p:cNvPr id="19" name="Shape 17"/>
          <p:cNvSpPr/>
          <p:nvPr/>
        </p:nvSpPr>
        <p:spPr>
          <a:xfrm>
            <a:off x="996696" y="4329684"/>
            <a:ext cx="367284" cy="367284"/>
          </a:xfrm>
          <a:prstGeom prst="ellipse">
            <a:avLst/>
          </a:prstGeom>
          <a:solidFill>
            <a:srgbClr val="0A0A0C"/>
          </a:solidFill>
          <a:ln/>
        </p:spPr>
      </p:sp>
      <p:sp>
        <p:nvSpPr>
          <p:cNvPr id="20" name="Text 18"/>
          <p:cNvSpPr txBox="1"/>
          <p:nvPr/>
        </p:nvSpPr>
        <p:spPr>
          <a:xfrm>
            <a:off x="996696" y="4329684"/>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9"/>
          <p:cNvSpPr txBox="1"/>
          <p:nvPr/>
        </p:nvSpPr>
        <p:spPr>
          <a:xfrm>
            <a:off x="1618488" y="4256532"/>
            <a:ext cx="9418320" cy="513588"/>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Eligibility can be known BEFORE you apply</a:t>
            </a:r>
            <a:endParaRPr lang="en-US" sz="1900" dirty="0"/>
          </a:p>
        </p:txBody>
      </p:sp>
      <p:sp>
        <p:nvSpPr>
          <p:cNvPr id="22" name="Shape 20"/>
          <p:cNvSpPr/>
          <p:nvPr/>
        </p:nvSpPr>
        <p:spPr>
          <a:xfrm>
            <a:off x="777240" y="4898136"/>
            <a:ext cx="10607040" cy="513588"/>
          </a:xfrm>
          <a:prstGeom prst="roundRect">
            <a:avLst>
              <a:gd name="adj" fmla="val 17804"/>
            </a:avLst>
          </a:prstGeom>
          <a:solidFill>
            <a:srgbClr val="FFFFFF"/>
          </a:solidFill>
          <a:ln w="12700">
            <a:solidFill>
              <a:srgbClr val="DFE3E7"/>
            </a:solidFill>
            <a:prstDash val="solid"/>
          </a:ln>
        </p:spPr>
      </p:sp>
      <p:sp>
        <p:nvSpPr>
          <p:cNvPr id="23" name="Shape 21"/>
          <p:cNvSpPr/>
          <p:nvPr/>
        </p:nvSpPr>
        <p:spPr>
          <a:xfrm>
            <a:off x="996696" y="4971288"/>
            <a:ext cx="367284" cy="367284"/>
          </a:xfrm>
          <a:prstGeom prst="ellipse">
            <a:avLst/>
          </a:prstGeom>
          <a:solidFill>
            <a:srgbClr val="0A0A0C"/>
          </a:solidFill>
          <a:ln/>
        </p:spPr>
      </p:sp>
      <p:sp>
        <p:nvSpPr>
          <p:cNvPr id="24" name="Text 22"/>
          <p:cNvSpPr txBox="1"/>
          <p:nvPr/>
        </p:nvSpPr>
        <p:spPr>
          <a:xfrm>
            <a:off x="996696" y="4971288"/>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5" name="Text 23"/>
          <p:cNvSpPr txBox="1"/>
          <p:nvPr/>
        </p:nvSpPr>
        <p:spPr>
          <a:xfrm>
            <a:off x="1618488" y="4898136"/>
            <a:ext cx="9418320" cy="513588"/>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If you're not eligible — the file gets fixed</a:t>
            </a:r>
            <a:endParaRPr lang="en-US" sz="1900" dirty="0"/>
          </a:p>
        </p:txBody>
      </p:sp>
      <p:sp>
        <p:nvSpPr>
          <p:cNvPr id="26" name="Shape 24"/>
          <p:cNvSpPr/>
          <p:nvPr/>
        </p:nvSpPr>
        <p:spPr>
          <a:xfrm>
            <a:off x="777240" y="5539740"/>
            <a:ext cx="10607040" cy="513588"/>
          </a:xfrm>
          <a:prstGeom prst="roundRect">
            <a:avLst>
              <a:gd name="adj" fmla="val 17804"/>
            </a:avLst>
          </a:prstGeom>
          <a:solidFill>
            <a:srgbClr val="FFFFFF"/>
          </a:solidFill>
          <a:ln w="12700">
            <a:solidFill>
              <a:srgbClr val="DFE3E7"/>
            </a:solidFill>
            <a:prstDash val="solid"/>
          </a:ln>
        </p:spPr>
      </p:sp>
      <p:sp>
        <p:nvSpPr>
          <p:cNvPr id="27" name="Shape 25"/>
          <p:cNvSpPr/>
          <p:nvPr/>
        </p:nvSpPr>
        <p:spPr>
          <a:xfrm>
            <a:off x="996696" y="5612892"/>
            <a:ext cx="367284" cy="367284"/>
          </a:xfrm>
          <a:prstGeom prst="ellipse">
            <a:avLst/>
          </a:prstGeom>
          <a:solidFill>
            <a:srgbClr val="0A0A0C"/>
          </a:solidFill>
          <a:ln/>
        </p:spPr>
      </p:sp>
      <p:sp>
        <p:nvSpPr>
          <p:cNvPr id="28" name="Text 26"/>
          <p:cNvSpPr txBox="1"/>
          <p:nvPr/>
        </p:nvSpPr>
        <p:spPr>
          <a:xfrm>
            <a:off x="996696" y="5612892"/>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9" name="Text 27"/>
          <p:cNvSpPr txBox="1"/>
          <p:nvPr/>
        </p:nvSpPr>
        <p:spPr>
          <a:xfrm>
            <a:off x="1618488" y="5539740"/>
            <a:ext cx="9418320" cy="513588"/>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Once you are — the bank and the bureau decide where you apply</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6400" b="1" dirty="0">
                <a:solidFill>
                  <a:srgbClr val="FFFFFF"/>
                </a:solidFill>
                <a:latin typeface="Arial" pitchFamily="34" charset="0"/>
                <a:ea typeface="Arial" pitchFamily="34" charset="-122"/>
                <a:cs typeface="Arial" pitchFamily="34" charset="-120"/>
              </a:rPr>
              <a:t>A score is not</a:t>
            </a:r>
            <a:endParaRPr lang="en-US" sz="6400" dirty="0"/>
          </a:p>
          <a:p>
            <a:pPr indent="0" marL="0">
              <a:lnSpc>
                <a:spcPts val="6400"/>
              </a:lnSpc>
              <a:buNone/>
            </a:pPr>
            <a:r>
              <a:rPr lang="en-US" sz="6400" b="1" dirty="0">
                <a:solidFill>
                  <a:srgbClr val="FFFFFF"/>
                </a:solidFill>
                <a:latin typeface="Arial" pitchFamily="34" charset="0"/>
                <a:ea typeface="Arial" pitchFamily="34" charset="-122"/>
                <a:cs typeface="Arial" pitchFamily="34" charset="-120"/>
              </a:rPr>
              <a:t>an approval.</a:t>
            </a:r>
            <a:endParaRPr lang="en-US" sz="6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2500" b="1" dirty="0">
                <a:solidFill>
                  <a:srgbClr val="0A0A0C"/>
                </a:solidFill>
                <a:latin typeface="Arial" pitchFamily="34" charset="0"/>
                <a:ea typeface="Arial" pitchFamily="34" charset="-122"/>
                <a:cs typeface="Arial" pitchFamily="34" charset="-120"/>
              </a:rPr>
              <a:t>YOU DON'T HAVE A CREDIT SCORE. YOU HAVE THREE FILES.</a:t>
            </a:r>
            <a:endParaRPr lang="en-US" sz="25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Shape 5"/>
          <p:cNvSpPr/>
          <p:nvPr/>
        </p:nvSpPr>
        <p:spPr>
          <a:xfrm>
            <a:off x="996696" y="2519172"/>
            <a:ext cx="402336" cy="402336"/>
          </a:xfrm>
          <a:prstGeom prst="ellipse">
            <a:avLst/>
          </a:prstGeom>
          <a:solidFill>
            <a:srgbClr val="0A0A0C"/>
          </a:solidFill>
          <a:ln/>
        </p:spPr>
      </p:sp>
      <p:sp>
        <p:nvSpPr>
          <p:cNvPr id="8" name="Text 6"/>
          <p:cNvSpPr txBox="1"/>
          <p:nvPr/>
        </p:nvSpPr>
        <p:spPr>
          <a:xfrm>
            <a:off x="996696" y="251917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618488" y="2331720"/>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EXPERIAN — its own data, its own score</a:t>
            </a:r>
            <a:endParaRPr lang="en-US" sz="2100" dirty="0"/>
          </a:p>
        </p:txBody>
      </p:sp>
      <p:sp>
        <p:nvSpPr>
          <p:cNvPr id="10" name="Shape 8"/>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11" name="Shape 9"/>
          <p:cNvSpPr/>
          <p:nvPr/>
        </p:nvSpPr>
        <p:spPr>
          <a:xfrm>
            <a:off x="996696" y="3424428"/>
            <a:ext cx="402336" cy="402336"/>
          </a:xfrm>
          <a:prstGeom prst="ellipse">
            <a:avLst/>
          </a:prstGeom>
          <a:solidFill>
            <a:srgbClr val="0A0A0C"/>
          </a:solidFill>
          <a:ln/>
        </p:spPr>
      </p:sp>
      <p:sp>
        <p:nvSpPr>
          <p:cNvPr id="12" name="Text 10"/>
          <p:cNvSpPr txBox="1"/>
          <p:nvPr/>
        </p:nvSpPr>
        <p:spPr>
          <a:xfrm>
            <a:off x="996696" y="342442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618488" y="3236976"/>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EQUIFAX — its own data, its own score</a:t>
            </a:r>
            <a:endParaRPr lang="en-US" sz="2100" dirty="0"/>
          </a:p>
        </p:txBody>
      </p:sp>
      <p:sp>
        <p:nvSpPr>
          <p:cNvPr id="14" name="Shape 12"/>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5" name="Shape 13"/>
          <p:cNvSpPr/>
          <p:nvPr/>
        </p:nvSpPr>
        <p:spPr>
          <a:xfrm>
            <a:off x="996696" y="4329684"/>
            <a:ext cx="402336" cy="402336"/>
          </a:xfrm>
          <a:prstGeom prst="ellipse">
            <a:avLst/>
          </a:prstGeom>
          <a:solidFill>
            <a:srgbClr val="0A0A0C"/>
          </a:solidFill>
          <a:ln/>
        </p:spPr>
      </p:sp>
      <p:sp>
        <p:nvSpPr>
          <p:cNvPr id="16" name="Text 14"/>
          <p:cNvSpPr txBox="1"/>
          <p:nvPr/>
        </p:nvSpPr>
        <p:spPr>
          <a:xfrm>
            <a:off x="996696" y="432968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618488" y="4142232"/>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TRANSUNION — its own data, its own score</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6600" b="1" dirty="0">
                <a:solidFill>
                  <a:srgbClr val="FFFFFF"/>
                </a:solidFill>
                <a:latin typeface="Arial" pitchFamily="34" charset="0"/>
                <a:ea typeface="Arial" pitchFamily="34" charset="-122"/>
                <a:cs typeface="Arial" pitchFamily="34" charset="-120"/>
              </a:rPr>
              <a:t>Which one</a:t>
            </a:r>
            <a:endParaRPr lang="en-US" sz="6600" dirty="0"/>
          </a:p>
          <a:p>
            <a:pPr indent="0" marL="0">
              <a:lnSpc>
                <a:spcPts val="6400"/>
              </a:lnSpc>
              <a:buNone/>
            </a:pPr>
            <a:r>
              <a:rPr lang="en-US" sz="6600" b="1" dirty="0">
                <a:solidFill>
                  <a:srgbClr val="FFFFFF"/>
                </a:solidFill>
                <a:latin typeface="Arial" pitchFamily="34" charset="0"/>
                <a:ea typeface="Arial" pitchFamily="34" charset="-122"/>
                <a:cs typeface="Arial" pitchFamily="34" charset="-120"/>
              </a:rPr>
              <a:t>did they pull?</a:t>
            </a:r>
            <a:endParaRPr lang="en-US" sz="6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you have no idea</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which bureau your last</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denial pulled.</a:t>
            </a:r>
            <a:endParaRPr lang="en-US" sz="4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5200" b="1" dirty="0">
                <a:solidFill>
                  <a:srgbClr val="0A0A0C"/>
                </a:solidFill>
                <a:latin typeface="Arial" pitchFamily="34" charset="0"/>
                <a:ea typeface="Arial" pitchFamily="34" charset="-122"/>
                <a:cs typeface="Arial" pitchFamily="34" charset="-120"/>
              </a:rPr>
              <a:t>Your best file doesn't</a:t>
            </a:r>
            <a:endParaRPr lang="en-US" sz="5200" dirty="0"/>
          </a:p>
          <a:p>
            <a:pPr indent="0" marL="0">
              <a:lnSpc>
                <a:spcPts val="6400"/>
              </a:lnSpc>
              <a:buNone/>
            </a:pPr>
            <a:r>
              <a:rPr lang="en-US" sz="5200" b="1" dirty="0">
                <a:solidFill>
                  <a:srgbClr val="0A0A0C"/>
                </a:solidFill>
                <a:latin typeface="Arial" pitchFamily="34" charset="0"/>
                <a:ea typeface="Arial" pitchFamily="34" charset="-122"/>
                <a:cs typeface="Arial" pitchFamily="34" charset="-120"/>
              </a:rPr>
              <a:t>get you approved.</a:t>
            </a:r>
            <a:endParaRPr lang="en-US" sz="5200" dirty="0"/>
          </a:p>
        </p:txBody>
      </p:sp>
      <p:sp>
        <p:nvSpPr>
          <p:cNvPr id="6" name="Text 4"/>
          <p:cNvSpPr txBox="1"/>
          <p:nvPr/>
        </p:nvSpPr>
        <p:spPr>
          <a:xfrm>
            <a:off x="777240" y="4114800"/>
            <a:ext cx="10607040" cy="1005840"/>
          </a:xfrm>
          <a:prstGeom prst="rect">
            <a:avLst/>
          </a:prstGeom>
          <a:noFill/>
          <a:ln/>
        </p:spPr>
        <p:txBody>
          <a:bodyPr wrap="square" lIns="0" tIns="0" rIns="0" bIns="0" rtlCol="0" anchor="ctr"/>
          <a:lstStyle/>
          <a:p>
            <a:pPr indent="0" marL="0">
              <a:buNone/>
            </a:pPr>
            <a:r>
              <a:rPr lang="en-US" sz="2600" dirty="0">
                <a:solidFill>
                  <a:srgbClr val="2A2E33"/>
                </a:solidFill>
                <a:latin typeface="Calibri" pitchFamily="34" charset="0"/>
                <a:ea typeface="Calibri" pitchFamily="34" charset="-122"/>
                <a:cs typeface="Calibri" pitchFamily="34" charset="-120"/>
              </a:rPr>
              <a:t>The one they pulled does.</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CREDIT DECAY</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Shape 5"/>
          <p:cNvSpPr/>
          <p:nvPr/>
        </p:nvSpPr>
        <p:spPr>
          <a:xfrm>
            <a:off x="996696" y="2519172"/>
            <a:ext cx="402336" cy="402336"/>
          </a:xfrm>
          <a:prstGeom prst="ellipse">
            <a:avLst/>
          </a:prstGeom>
          <a:solidFill>
            <a:srgbClr val="0A0A0C"/>
          </a:solidFill>
          <a:ln/>
        </p:spPr>
      </p:sp>
      <p:sp>
        <p:nvSpPr>
          <p:cNvPr id="8" name="Text 6"/>
          <p:cNvSpPr txBox="1"/>
          <p:nvPr/>
        </p:nvSpPr>
        <p:spPr>
          <a:xfrm>
            <a:off x="996696" y="251917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618488" y="2331720"/>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Every application leaves an inquiry</a:t>
            </a:r>
            <a:endParaRPr lang="en-US" sz="2100" dirty="0"/>
          </a:p>
        </p:txBody>
      </p:sp>
      <p:sp>
        <p:nvSpPr>
          <p:cNvPr id="10" name="Shape 8"/>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11" name="Shape 9"/>
          <p:cNvSpPr/>
          <p:nvPr/>
        </p:nvSpPr>
        <p:spPr>
          <a:xfrm>
            <a:off x="996696" y="3424428"/>
            <a:ext cx="402336" cy="402336"/>
          </a:xfrm>
          <a:prstGeom prst="ellipse">
            <a:avLst/>
          </a:prstGeom>
          <a:solidFill>
            <a:srgbClr val="0A0A0C"/>
          </a:solidFill>
          <a:ln/>
        </p:spPr>
      </p:sp>
      <p:sp>
        <p:nvSpPr>
          <p:cNvPr id="12" name="Text 10"/>
          <p:cNvSpPr txBox="1"/>
          <p:nvPr/>
        </p:nvSpPr>
        <p:spPr>
          <a:xfrm>
            <a:off x="996696" y="342442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618488" y="3236976"/>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Every inquiry lowers what a bank will extend you</a:t>
            </a:r>
            <a:endParaRPr lang="en-US" sz="2100" dirty="0"/>
          </a:p>
        </p:txBody>
      </p:sp>
      <p:sp>
        <p:nvSpPr>
          <p:cNvPr id="14" name="Shape 12"/>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5" name="Shape 13"/>
          <p:cNvSpPr/>
          <p:nvPr/>
        </p:nvSpPr>
        <p:spPr>
          <a:xfrm>
            <a:off x="996696" y="4329684"/>
            <a:ext cx="402336" cy="402336"/>
          </a:xfrm>
          <a:prstGeom prst="ellipse">
            <a:avLst/>
          </a:prstGeom>
          <a:solidFill>
            <a:srgbClr val="0A0A0C"/>
          </a:solidFill>
          <a:ln/>
        </p:spPr>
      </p:sp>
      <p:sp>
        <p:nvSpPr>
          <p:cNvPr id="16" name="Text 14"/>
          <p:cNvSpPr txBox="1"/>
          <p:nvPr/>
        </p:nvSpPr>
        <p:spPr>
          <a:xfrm>
            <a:off x="996696" y="432968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618488" y="4142232"/>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It happens quietly — whether you were approved or not</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nobody has ever</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explained credit decay to you</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before tonight.</a:t>
            </a:r>
            <a:endParaRPr lang="en-US" sz="4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777240" y="1005840"/>
            <a:ext cx="155448" cy="155448"/>
          </a:xfrm>
          <a:prstGeom prst="ellipse">
            <a:avLst/>
          </a:prstGeom>
          <a:solidFill>
            <a:srgbClr val="D61A20"/>
          </a:solidFill>
          <a:ln/>
        </p:spPr>
      </p:sp>
      <p:sp>
        <p:nvSpPr>
          <p:cNvPr id="3" name="Shape 1"/>
          <p:cNvSpPr/>
          <p:nvPr/>
        </p:nvSpPr>
        <p:spPr>
          <a:xfrm>
            <a:off x="1033272" y="1005840"/>
            <a:ext cx="155448" cy="155448"/>
          </a:xfrm>
          <a:prstGeom prst="ellipse">
            <a:avLst/>
          </a:prstGeom>
          <a:solidFill>
            <a:srgbClr val="D6A83A"/>
          </a:solidFill>
          <a:ln/>
        </p:spPr>
      </p:sp>
      <p:sp>
        <p:nvSpPr>
          <p:cNvPr id="4" name="Shape 2"/>
          <p:cNvSpPr/>
          <p:nvPr/>
        </p:nvSpPr>
        <p:spPr>
          <a:xfrm>
            <a:off x="1289304" y="1005840"/>
            <a:ext cx="155448" cy="155448"/>
          </a:xfrm>
          <a:prstGeom prst="ellipse">
            <a:avLst/>
          </a:prstGeom>
          <a:solidFill>
            <a:srgbClr val="2ECC34"/>
          </a:solidFill>
          <a:ln/>
        </p:spPr>
      </p:sp>
      <p:sp>
        <p:nvSpPr>
          <p:cNvPr id="5" name="Text 3"/>
          <p:cNvSpPr txBox="1"/>
          <p:nvPr/>
        </p:nvSpPr>
        <p:spPr>
          <a:xfrm>
            <a:off x="777240" y="1554480"/>
            <a:ext cx="10607040" cy="2194560"/>
          </a:xfrm>
          <a:prstGeom prst="rect">
            <a:avLst/>
          </a:prstGeom>
          <a:noFill/>
          <a:ln/>
        </p:spPr>
        <p:txBody>
          <a:bodyPr wrap="square" lIns="0" tIns="0" rIns="0" bIns="0" rtlCol="0" anchor="ctr"/>
          <a:lstStyle/>
          <a:p>
            <a:pPr indent="0" marL="0">
              <a:buNone/>
            </a:pPr>
            <a:r>
              <a:rPr lang="en-US" sz="15000" b="1" dirty="0">
                <a:solidFill>
                  <a:srgbClr val="D61A20"/>
                </a:solidFill>
                <a:latin typeface="Arial" pitchFamily="34" charset="0"/>
                <a:ea typeface="Arial" pitchFamily="34" charset="-122"/>
                <a:cs typeface="Arial" pitchFamily="34" charset="-120"/>
              </a:rPr>
              <a:t>−$5,000</a:t>
            </a:r>
            <a:endParaRPr lang="en-US" sz="15000" dirty="0"/>
          </a:p>
        </p:txBody>
      </p:sp>
      <p:sp>
        <p:nvSpPr>
          <p:cNvPr id="6" name="Text 4"/>
          <p:cNvSpPr txBox="1"/>
          <p:nvPr/>
        </p:nvSpPr>
        <p:spPr>
          <a:xfrm>
            <a:off x="777240" y="3794760"/>
            <a:ext cx="106070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APPROVAL ODDS ON A REAL FILE</a:t>
            </a:r>
            <a:endParaRPr lang="en-US" sz="3000" dirty="0"/>
          </a:p>
        </p:txBody>
      </p:sp>
      <p:sp>
        <p:nvSpPr>
          <p:cNvPr id="7" name="Text 5"/>
          <p:cNvSpPr txBox="1"/>
          <p:nvPr/>
        </p:nvSpPr>
        <p:spPr>
          <a:xfrm>
            <a:off x="777240" y="4526280"/>
            <a:ext cx="10607040" cy="731520"/>
          </a:xfrm>
          <a:prstGeom prst="rect">
            <a:avLst/>
          </a:prstGeom>
          <a:noFill/>
          <a:ln/>
        </p:spPr>
        <p:txBody>
          <a:bodyPr wrap="square" lIns="0" tIns="0" rIns="0" bIns="0" rtlCol="0" anchor="ctr"/>
          <a:lstStyle/>
          <a:p>
            <a:pPr indent="0" marL="0">
              <a:buNone/>
            </a:pPr>
            <a:r>
              <a:rPr lang="en-US" sz="2100" dirty="0">
                <a:solidFill>
                  <a:srgbClr val="AEB6BF"/>
                </a:solidFill>
                <a:latin typeface="Calibri" pitchFamily="34" charset="0"/>
                <a:ea typeface="Calibri" pitchFamily="34" charset="-122"/>
                <a:cs typeface="Calibri" pitchFamily="34" charset="-120"/>
              </a:rPr>
              <a:t>14 inquiries. The score never said a word about it.</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6400" b="1" dirty="0">
                <a:solidFill>
                  <a:srgbClr val="FFFFFF"/>
                </a:solidFill>
                <a:latin typeface="Arial" pitchFamily="34" charset="0"/>
                <a:ea typeface="Arial" pitchFamily="34" charset="-122"/>
                <a:cs typeface="Arial" pitchFamily="34" charset="-120"/>
              </a:rPr>
              <a:t>Forget about points.</a:t>
            </a:r>
            <a:endParaRPr lang="en-US" sz="6400" dirty="0"/>
          </a:p>
          <a:p>
            <a:pPr indent="0" marL="0">
              <a:lnSpc>
                <a:spcPts val="6400"/>
              </a:lnSpc>
              <a:buNone/>
            </a:pPr>
            <a:r>
              <a:rPr lang="en-US" sz="6400" b="1" dirty="0">
                <a:solidFill>
                  <a:srgbClr val="FFFFFF"/>
                </a:solidFill>
                <a:latin typeface="Arial" pitchFamily="34" charset="0"/>
                <a:ea typeface="Arial" pitchFamily="34" charset="-122"/>
                <a:cs typeface="Arial" pitchFamily="34" charset="-120"/>
              </a:rPr>
              <a:t>It's about money.</a:t>
            </a:r>
            <a:endParaRPr lang="en-US" sz="6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SO WHAT ACTUALLY HAPPENED</a:t>
            </a:r>
            <a:endParaRPr lang="en-US" sz="4000" dirty="0"/>
          </a:p>
        </p:txBody>
      </p:sp>
      <p:sp>
        <p:nvSpPr>
          <p:cNvPr id="6" name="Shape 4"/>
          <p:cNvSpPr/>
          <p:nvPr/>
        </p:nvSpPr>
        <p:spPr>
          <a:xfrm>
            <a:off x="777240" y="2331720"/>
            <a:ext cx="10607040" cy="640080"/>
          </a:xfrm>
          <a:prstGeom prst="roundRect">
            <a:avLst>
              <a:gd name="adj" fmla="val 14286"/>
            </a:avLst>
          </a:prstGeom>
          <a:solidFill>
            <a:srgbClr val="FFFFFF"/>
          </a:solidFill>
          <a:ln w="12700">
            <a:solidFill>
              <a:srgbClr val="DFE3E7"/>
            </a:solidFill>
            <a:prstDash val="solid"/>
          </a:ln>
        </p:spPr>
      </p:sp>
      <p:sp>
        <p:nvSpPr>
          <p:cNvPr id="7" name="Shape 5"/>
          <p:cNvSpPr/>
          <p:nvPr/>
        </p:nvSpPr>
        <p:spPr>
          <a:xfrm>
            <a:off x="996696" y="2450592"/>
            <a:ext cx="402336" cy="402336"/>
          </a:xfrm>
          <a:prstGeom prst="ellipse">
            <a:avLst/>
          </a:prstGeom>
          <a:solidFill>
            <a:srgbClr val="0A0A0C"/>
          </a:solidFill>
          <a:ln/>
        </p:spPr>
      </p:sp>
      <p:sp>
        <p:nvSpPr>
          <p:cNvPr id="8" name="Text 6"/>
          <p:cNvSpPr txBox="1"/>
          <p:nvPr/>
        </p:nvSpPr>
        <p:spPr>
          <a:xfrm>
            <a:off x="996696" y="245059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618488" y="2331720"/>
            <a:ext cx="9418320" cy="64008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You applied</a:t>
            </a:r>
            <a:endParaRPr lang="en-US" sz="1900" dirty="0"/>
          </a:p>
        </p:txBody>
      </p:sp>
      <p:sp>
        <p:nvSpPr>
          <p:cNvPr id="10" name="Shape 8"/>
          <p:cNvSpPr/>
          <p:nvPr/>
        </p:nvSpPr>
        <p:spPr>
          <a:xfrm>
            <a:off x="777240" y="3099816"/>
            <a:ext cx="10607040" cy="640080"/>
          </a:xfrm>
          <a:prstGeom prst="roundRect">
            <a:avLst>
              <a:gd name="adj" fmla="val 14286"/>
            </a:avLst>
          </a:prstGeom>
          <a:solidFill>
            <a:srgbClr val="FFFFFF"/>
          </a:solidFill>
          <a:ln w="12700">
            <a:solidFill>
              <a:srgbClr val="DFE3E7"/>
            </a:solidFill>
            <a:prstDash val="solid"/>
          </a:ln>
        </p:spPr>
      </p:sp>
      <p:sp>
        <p:nvSpPr>
          <p:cNvPr id="11" name="Shape 9"/>
          <p:cNvSpPr/>
          <p:nvPr/>
        </p:nvSpPr>
        <p:spPr>
          <a:xfrm>
            <a:off x="996696" y="3218688"/>
            <a:ext cx="402336" cy="402336"/>
          </a:xfrm>
          <a:prstGeom prst="ellipse">
            <a:avLst/>
          </a:prstGeom>
          <a:solidFill>
            <a:srgbClr val="0A0A0C"/>
          </a:solidFill>
          <a:ln/>
        </p:spPr>
      </p:sp>
      <p:sp>
        <p:nvSpPr>
          <p:cNvPr id="12" name="Text 10"/>
          <p:cNvSpPr txBox="1"/>
          <p:nvPr/>
        </p:nvSpPr>
        <p:spPr>
          <a:xfrm>
            <a:off x="996696" y="321868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618488" y="3099816"/>
            <a:ext cx="9418320" cy="64008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You didn't know if you qualified</a:t>
            </a:r>
            <a:endParaRPr lang="en-US" sz="1900" dirty="0"/>
          </a:p>
        </p:txBody>
      </p:sp>
      <p:sp>
        <p:nvSpPr>
          <p:cNvPr id="14" name="Shape 12"/>
          <p:cNvSpPr/>
          <p:nvPr/>
        </p:nvSpPr>
        <p:spPr>
          <a:xfrm>
            <a:off x="777240" y="3867912"/>
            <a:ext cx="10607040" cy="640080"/>
          </a:xfrm>
          <a:prstGeom prst="roundRect">
            <a:avLst>
              <a:gd name="adj" fmla="val 14286"/>
            </a:avLst>
          </a:prstGeom>
          <a:solidFill>
            <a:srgbClr val="FFFFFF"/>
          </a:solidFill>
          <a:ln w="12700">
            <a:solidFill>
              <a:srgbClr val="DFE3E7"/>
            </a:solidFill>
            <a:prstDash val="solid"/>
          </a:ln>
        </p:spPr>
      </p:sp>
      <p:sp>
        <p:nvSpPr>
          <p:cNvPr id="15" name="Shape 13"/>
          <p:cNvSpPr/>
          <p:nvPr/>
        </p:nvSpPr>
        <p:spPr>
          <a:xfrm>
            <a:off x="996696" y="3986784"/>
            <a:ext cx="402336" cy="402336"/>
          </a:xfrm>
          <a:prstGeom prst="ellipse">
            <a:avLst/>
          </a:prstGeom>
          <a:solidFill>
            <a:srgbClr val="0A0A0C"/>
          </a:solidFill>
          <a:ln/>
        </p:spPr>
      </p:sp>
      <p:sp>
        <p:nvSpPr>
          <p:cNvPr id="16" name="Text 14"/>
          <p:cNvSpPr txBox="1"/>
          <p:nvPr/>
        </p:nvSpPr>
        <p:spPr>
          <a:xfrm>
            <a:off x="996696" y="398678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618488" y="3867912"/>
            <a:ext cx="9418320" cy="64008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You got denied</a:t>
            </a:r>
            <a:endParaRPr lang="en-US" sz="1900" dirty="0"/>
          </a:p>
        </p:txBody>
      </p:sp>
      <p:sp>
        <p:nvSpPr>
          <p:cNvPr id="18" name="Shape 16"/>
          <p:cNvSpPr/>
          <p:nvPr/>
        </p:nvSpPr>
        <p:spPr>
          <a:xfrm>
            <a:off x="777240" y="4636008"/>
            <a:ext cx="10607040" cy="640080"/>
          </a:xfrm>
          <a:prstGeom prst="roundRect">
            <a:avLst>
              <a:gd name="adj" fmla="val 14286"/>
            </a:avLst>
          </a:prstGeom>
          <a:solidFill>
            <a:srgbClr val="FFFFFF"/>
          </a:solidFill>
          <a:ln w="12700">
            <a:solidFill>
              <a:srgbClr val="DFE3E7"/>
            </a:solidFill>
            <a:prstDash val="solid"/>
          </a:ln>
        </p:spPr>
      </p:sp>
      <p:sp>
        <p:nvSpPr>
          <p:cNvPr id="19" name="Shape 17"/>
          <p:cNvSpPr/>
          <p:nvPr/>
        </p:nvSpPr>
        <p:spPr>
          <a:xfrm>
            <a:off x="996696" y="4754880"/>
            <a:ext cx="402336" cy="402336"/>
          </a:xfrm>
          <a:prstGeom prst="ellipse">
            <a:avLst/>
          </a:prstGeom>
          <a:solidFill>
            <a:srgbClr val="0A0A0C"/>
          </a:solidFill>
          <a:ln/>
        </p:spPr>
      </p:sp>
      <p:sp>
        <p:nvSpPr>
          <p:cNvPr id="20" name="Text 18"/>
          <p:cNvSpPr txBox="1"/>
          <p:nvPr/>
        </p:nvSpPr>
        <p:spPr>
          <a:xfrm>
            <a:off x="996696" y="4754880"/>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1" name="Text 19"/>
          <p:cNvSpPr txBox="1"/>
          <p:nvPr/>
        </p:nvSpPr>
        <p:spPr>
          <a:xfrm>
            <a:off x="1618488" y="4636008"/>
            <a:ext cx="9418320" cy="64008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And the inquiry made the next one harder</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5600"/>
              </a:lnSpc>
              <a:buNone/>
            </a:pPr>
            <a:r>
              <a:rPr lang="en-US" sz="4000" b="1" dirty="0">
                <a:solidFill>
                  <a:srgbClr val="0A0A0C"/>
                </a:solidFill>
                <a:latin typeface="Arial" pitchFamily="34" charset="0"/>
                <a:ea typeface="Arial" pitchFamily="34" charset="-122"/>
                <a:cs typeface="Arial" pitchFamily="34" charset="-120"/>
              </a:rPr>
              <a:t>Denied → inquiry → lower ceiling</a:t>
            </a:r>
            <a:endParaRPr lang="en-US" sz="4000" dirty="0"/>
          </a:p>
          <a:p>
            <a:pPr indent="0" marL="0">
              <a:lnSpc>
                <a:spcPts val="5600"/>
              </a:lnSpc>
              <a:buNone/>
            </a:pPr>
            <a:r>
              <a:rPr lang="en-US" sz="4000" b="1" dirty="0">
                <a:solidFill>
                  <a:srgbClr val="0A0A0C"/>
                </a:solidFill>
                <a:latin typeface="Arial" pitchFamily="34" charset="0"/>
                <a:ea typeface="Arial" pitchFamily="34" charset="-122"/>
                <a:cs typeface="Arial" pitchFamily="34" charset="-120"/>
              </a:rPr>
              <a:t>Denied → inquiry → lower ceiling</a:t>
            </a:r>
            <a:endParaRPr lang="en-US" sz="4000" dirty="0"/>
          </a:p>
          <a:p>
            <a:pPr indent="0" marL="0">
              <a:lnSpc>
                <a:spcPts val="5600"/>
              </a:lnSpc>
              <a:buNone/>
            </a:pPr>
            <a:r>
              <a:rPr lang="en-US" sz="4000" b="1" dirty="0">
                <a:solidFill>
                  <a:srgbClr val="0A0A0C"/>
                </a:solidFill>
                <a:latin typeface="Arial" pitchFamily="34" charset="0"/>
                <a:ea typeface="Arial" pitchFamily="34" charset="-122"/>
                <a:cs typeface="Arial" pitchFamily="34" charset="-120"/>
              </a:rPr>
              <a:t>Denied.</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that's</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been your experience.</a:t>
            </a:r>
            <a:endParaRPr lang="en-US" sz="4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6600" b="1" dirty="0">
                <a:solidFill>
                  <a:srgbClr val="FFFFFF"/>
                </a:solidFill>
                <a:latin typeface="Arial" pitchFamily="34" charset="0"/>
                <a:ea typeface="Arial" pitchFamily="34" charset="-122"/>
                <a:cs typeface="Arial" pitchFamily="34" charset="-120"/>
              </a:rPr>
              <a:t>There is a way</a:t>
            </a:r>
            <a:endParaRPr lang="en-US" sz="6600" dirty="0"/>
          </a:p>
          <a:p>
            <a:pPr indent="0" marL="0">
              <a:lnSpc>
                <a:spcPts val="6400"/>
              </a:lnSpc>
              <a:buNone/>
            </a:pPr>
            <a:r>
              <a:rPr lang="en-US" sz="6600" b="1" dirty="0">
                <a:solidFill>
                  <a:srgbClr val="FFFFFF"/>
                </a:solidFill>
                <a:latin typeface="Arial" pitchFamily="34" charset="0"/>
                <a:ea typeface="Arial" pitchFamily="34" charset="-122"/>
                <a:cs typeface="Arial" pitchFamily="34" charset="-120"/>
              </a:rPr>
              <a:t>to know first.</a:t>
            </a:r>
            <a:endParaRPr lang="en-US" sz="6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4800" b="1" dirty="0">
                <a:solidFill>
                  <a:srgbClr val="0A0A0C"/>
                </a:solidFill>
                <a:latin typeface="Arial" pitchFamily="34" charset="0"/>
                <a:ea typeface="Arial" pitchFamily="34" charset="-122"/>
                <a:cs typeface="Arial" pitchFamily="34" charset="-120"/>
              </a:rPr>
              <a:t>The question is never</a:t>
            </a:r>
            <a:endParaRPr lang="en-US" sz="4800" dirty="0"/>
          </a:p>
          <a:p>
            <a:pPr indent="0" marL="0">
              <a:lnSpc>
                <a:spcPts val="6400"/>
              </a:lnSpc>
              <a:buNone/>
            </a:pPr>
            <a:r>
              <a:rPr lang="en-US" sz="4800" b="1" dirty="0">
                <a:solidFill>
                  <a:srgbClr val="0A0A0C"/>
                </a:solidFill>
                <a:latin typeface="Arial" pitchFamily="34" charset="0"/>
                <a:ea typeface="Arial" pitchFamily="34" charset="-122"/>
                <a:cs typeface="Arial" pitchFamily="34" charset="-120"/>
              </a:rPr>
              <a:t>"what's my score?"</a:t>
            </a:r>
            <a:endParaRPr lang="en-US" sz="4800" dirty="0"/>
          </a:p>
        </p:txBody>
      </p:sp>
      <p:sp>
        <p:nvSpPr>
          <p:cNvPr id="6" name="Text 4"/>
          <p:cNvSpPr txBox="1"/>
          <p:nvPr/>
        </p:nvSpPr>
        <p:spPr>
          <a:xfrm>
            <a:off x="777240" y="4114800"/>
            <a:ext cx="10607040" cy="1005840"/>
          </a:xfrm>
          <a:prstGeom prst="rect">
            <a:avLst/>
          </a:prstGeom>
          <a:noFill/>
          <a:ln/>
        </p:spPr>
        <p:txBody>
          <a:bodyPr wrap="square" lIns="0" tIns="0" rIns="0" bIns="0" rtlCol="0" anchor="ctr"/>
          <a:lstStyle/>
          <a:p>
            <a:pPr indent="0" marL="0">
              <a:buNone/>
            </a:pPr>
            <a:r>
              <a:rPr lang="en-US" sz="2600" dirty="0">
                <a:solidFill>
                  <a:srgbClr val="2A2E33"/>
                </a:solidFill>
                <a:latin typeface="Calibri" pitchFamily="34" charset="0"/>
                <a:ea typeface="Calibri" pitchFamily="34" charset="-122"/>
                <a:cs typeface="Calibri" pitchFamily="34" charset="-120"/>
              </a:rPr>
              <a:t>The question is "should I apply at all?"</a:t>
            </a:r>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HOW IT STARTS</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Shape 5"/>
          <p:cNvSpPr/>
          <p:nvPr/>
        </p:nvSpPr>
        <p:spPr>
          <a:xfrm>
            <a:off x="996696" y="2519172"/>
            <a:ext cx="402336" cy="402336"/>
          </a:xfrm>
          <a:prstGeom prst="ellipse">
            <a:avLst/>
          </a:prstGeom>
          <a:solidFill>
            <a:srgbClr val="0A0A0C"/>
          </a:solidFill>
          <a:ln/>
        </p:spPr>
      </p:sp>
      <p:sp>
        <p:nvSpPr>
          <p:cNvPr id="8" name="Text 6"/>
          <p:cNvSpPr txBox="1"/>
          <p:nvPr/>
        </p:nvSpPr>
        <p:spPr>
          <a:xfrm>
            <a:off x="996696" y="251917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618488" y="2331720"/>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Upload your credit report</a:t>
            </a:r>
            <a:endParaRPr lang="en-US" sz="2100" dirty="0"/>
          </a:p>
        </p:txBody>
      </p:sp>
      <p:sp>
        <p:nvSpPr>
          <p:cNvPr id="10" name="Shape 8"/>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11" name="Shape 9"/>
          <p:cNvSpPr/>
          <p:nvPr/>
        </p:nvSpPr>
        <p:spPr>
          <a:xfrm>
            <a:off x="996696" y="3424428"/>
            <a:ext cx="402336" cy="402336"/>
          </a:xfrm>
          <a:prstGeom prst="ellipse">
            <a:avLst/>
          </a:prstGeom>
          <a:solidFill>
            <a:srgbClr val="0A0A0C"/>
          </a:solidFill>
          <a:ln/>
        </p:spPr>
      </p:sp>
      <p:sp>
        <p:nvSpPr>
          <p:cNvPr id="12" name="Text 10"/>
          <p:cNvSpPr txBox="1"/>
          <p:nvPr/>
        </p:nvSpPr>
        <p:spPr>
          <a:xfrm>
            <a:off x="996696" y="342442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618488" y="3236976"/>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No forms. No typing.</a:t>
            </a:r>
            <a:endParaRPr lang="en-US" sz="2100" dirty="0"/>
          </a:p>
        </p:txBody>
      </p:sp>
      <p:sp>
        <p:nvSpPr>
          <p:cNvPr id="14" name="Shape 12"/>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5" name="Shape 13"/>
          <p:cNvSpPr/>
          <p:nvPr/>
        </p:nvSpPr>
        <p:spPr>
          <a:xfrm>
            <a:off x="996696" y="4329684"/>
            <a:ext cx="402336" cy="402336"/>
          </a:xfrm>
          <a:prstGeom prst="ellipse">
            <a:avLst/>
          </a:prstGeom>
          <a:solidFill>
            <a:srgbClr val="0A0A0C"/>
          </a:solidFill>
          <a:ln/>
        </p:spPr>
      </p:sp>
      <p:sp>
        <p:nvSpPr>
          <p:cNvPr id="16" name="Text 14"/>
          <p:cNvSpPr txBox="1"/>
          <p:nvPr/>
        </p:nvSpPr>
        <p:spPr>
          <a:xfrm>
            <a:off x="996696" y="432968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618488" y="4142232"/>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Five AIs read every line of it</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777240" y="2103120"/>
            <a:ext cx="155448" cy="155448"/>
          </a:xfrm>
          <a:prstGeom prst="ellipse">
            <a:avLst/>
          </a:prstGeom>
          <a:solidFill>
            <a:srgbClr val="D61A20"/>
          </a:solidFill>
          <a:ln/>
        </p:spPr>
      </p:sp>
      <p:sp>
        <p:nvSpPr>
          <p:cNvPr id="3" name="Shape 1"/>
          <p:cNvSpPr/>
          <p:nvPr/>
        </p:nvSpPr>
        <p:spPr>
          <a:xfrm>
            <a:off x="1033272" y="2103120"/>
            <a:ext cx="155448" cy="155448"/>
          </a:xfrm>
          <a:prstGeom prst="ellipse">
            <a:avLst/>
          </a:prstGeom>
          <a:solidFill>
            <a:srgbClr val="D6A83A"/>
          </a:solidFill>
          <a:ln/>
        </p:spPr>
      </p:sp>
      <p:sp>
        <p:nvSpPr>
          <p:cNvPr id="4" name="Shape 2"/>
          <p:cNvSpPr/>
          <p:nvPr/>
        </p:nvSpPr>
        <p:spPr>
          <a:xfrm>
            <a:off x="1289304" y="2103120"/>
            <a:ext cx="155448" cy="155448"/>
          </a:xfrm>
          <a:prstGeom prst="ellipse">
            <a:avLst/>
          </a:prstGeom>
          <a:solidFill>
            <a:srgbClr val="2ECC34"/>
          </a:solidFill>
          <a:ln/>
        </p:spPr>
      </p:sp>
      <p:sp>
        <p:nvSpPr>
          <p:cNvPr id="5" name="Text 3"/>
          <p:cNvSpPr txBox="1"/>
          <p:nvPr/>
        </p:nvSpPr>
        <p:spPr>
          <a:xfrm>
            <a:off x="777240" y="2514600"/>
            <a:ext cx="10607040" cy="1463040"/>
          </a:xfrm>
          <a:prstGeom prst="rect">
            <a:avLst/>
          </a:prstGeom>
          <a:noFill/>
          <a:ln/>
        </p:spPr>
        <p:txBody>
          <a:bodyPr wrap="square" lIns="0" tIns="0" rIns="0" bIns="0" rtlCol="0" anchor="ctr"/>
          <a:lstStyle/>
          <a:p>
            <a:pPr indent="0" marL="0">
              <a:buNone/>
            </a:pPr>
            <a:r>
              <a:rPr lang="en-US" sz="5100" b="1" dirty="0">
                <a:solidFill>
                  <a:srgbClr val="FFFFFF"/>
                </a:solidFill>
                <a:latin typeface="Arial" pitchFamily="34" charset="0"/>
                <a:ea typeface="Arial" pitchFamily="34" charset="-122"/>
                <a:cs typeface="Arial" pitchFamily="34" charset="-120"/>
              </a:rPr>
              <a:t>THE UNDERWRITING BLUEPRINT</a:t>
            </a:r>
            <a:endParaRPr lang="en-US" sz="5100" dirty="0"/>
          </a:p>
        </p:txBody>
      </p:sp>
      <p:sp>
        <p:nvSpPr>
          <p:cNvPr id="6" name="Text 4"/>
          <p:cNvSpPr txBox="1"/>
          <p:nvPr/>
        </p:nvSpPr>
        <p:spPr>
          <a:xfrm>
            <a:off x="777240" y="4023360"/>
            <a:ext cx="10607040" cy="731520"/>
          </a:xfrm>
          <a:prstGeom prst="rect">
            <a:avLst/>
          </a:prstGeom>
          <a:noFill/>
          <a:ln/>
        </p:spPr>
        <p:txBody>
          <a:bodyPr wrap="square" lIns="0" tIns="0" rIns="0" bIns="0" rtlCol="0" anchor="ctr"/>
          <a:lstStyle/>
          <a:p>
            <a:pPr indent="0" marL="0">
              <a:buNone/>
            </a:pPr>
            <a:r>
              <a:rPr lang="en-US" sz="2400" dirty="0">
                <a:solidFill>
                  <a:srgbClr val="AEB6BF"/>
                </a:solidFill>
                <a:latin typeface="Calibri" pitchFamily="34" charset="0"/>
                <a:ea typeface="Calibri" pitchFamily="34" charset="-122"/>
                <a:cs typeface="Calibri" pitchFamily="34" charset="-120"/>
              </a:rPr>
              <a:t>Ten questions. Every lender asks them.</a:t>
            </a:r>
            <a:endParaRPr lang="en-US" sz="2400" dirty="0"/>
          </a:p>
          <a:p>
            <a:pPr indent="0" marL="0">
              <a:buNone/>
            </a:pPr>
            <a:r>
              <a:rPr lang="en-US" sz="2400" dirty="0">
                <a:solidFill>
                  <a:srgbClr val="AEB6BF"/>
                </a:solidFill>
                <a:latin typeface="Calibri" pitchFamily="34" charset="0"/>
                <a:ea typeface="Calibri" pitchFamily="34" charset="-122"/>
                <a:cs typeface="Calibri" pitchFamily="34" charset="-120"/>
              </a:rPr>
              <a:t>Almost nobody has ever seen them written down.</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400" b="1" dirty="0">
                <a:solidFill>
                  <a:srgbClr val="0A0A0C"/>
                </a:solidFill>
                <a:latin typeface="Arial" pitchFamily="34" charset="0"/>
                <a:ea typeface="Arial" pitchFamily="34" charset="-122"/>
                <a:cs typeface="Arial" pitchFamily="34" charset="-120"/>
              </a:rPr>
              <a:t>RED. YELLOW. GREEN.</a:t>
            </a:r>
            <a:endParaRPr lang="en-US" sz="4400" dirty="0"/>
          </a:p>
        </p:txBody>
      </p:sp>
      <p:sp>
        <p:nvSpPr>
          <p:cNvPr id="6" name="Shape 4"/>
          <p:cNvSpPr/>
          <p:nvPr/>
        </p:nvSpPr>
        <p:spPr>
          <a:xfrm>
            <a:off x="777240" y="2514600"/>
            <a:ext cx="10607040" cy="868680"/>
          </a:xfrm>
          <a:prstGeom prst="roundRect">
            <a:avLst>
              <a:gd name="adj" fmla="val 10526"/>
            </a:avLst>
          </a:prstGeom>
          <a:solidFill>
            <a:srgbClr val="FFFFFF"/>
          </a:solidFill>
          <a:ln w="12700">
            <a:solidFill>
              <a:srgbClr val="DFE3E7"/>
            </a:solidFill>
            <a:prstDash val="solid"/>
          </a:ln>
        </p:spPr>
      </p:sp>
      <p:sp>
        <p:nvSpPr>
          <p:cNvPr id="7" name="Shape 5"/>
          <p:cNvSpPr/>
          <p:nvPr/>
        </p:nvSpPr>
        <p:spPr>
          <a:xfrm>
            <a:off x="1051560" y="2734056"/>
            <a:ext cx="429768" cy="429768"/>
          </a:xfrm>
          <a:prstGeom prst="ellipse">
            <a:avLst/>
          </a:prstGeom>
          <a:solidFill>
            <a:srgbClr val="D61A20"/>
          </a:solidFill>
          <a:ln/>
        </p:spPr>
      </p:sp>
      <p:sp>
        <p:nvSpPr>
          <p:cNvPr id="8" name="Text 6"/>
          <p:cNvSpPr txBox="1"/>
          <p:nvPr/>
        </p:nvSpPr>
        <p:spPr>
          <a:xfrm>
            <a:off x="1691640" y="2514600"/>
            <a:ext cx="2011680" cy="868680"/>
          </a:xfrm>
          <a:prstGeom prst="rect">
            <a:avLst/>
          </a:prstGeom>
          <a:noFill/>
          <a:ln/>
        </p:spPr>
        <p:txBody>
          <a:bodyPr wrap="square" lIns="0" tIns="0" rIns="0" bIns="0" rtlCol="0" anchor="ctr"/>
          <a:lstStyle/>
          <a:p>
            <a:pPr indent="0" marL="0">
              <a:buNone/>
            </a:pPr>
            <a:r>
              <a:rPr lang="en-US" sz="2400" b="1" dirty="0">
                <a:solidFill>
                  <a:srgbClr val="0A0A0C"/>
                </a:solidFill>
                <a:latin typeface="Arial" pitchFamily="34" charset="0"/>
                <a:ea typeface="Arial" pitchFamily="34" charset="-122"/>
                <a:cs typeface="Arial" pitchFamily="34" charset="-120"/>
              </a:rPr>
              <a:t>RED</a:t>
            </a:r>
            <a:endParaRPr lang="en-US" sz="2400" dirty="0"/>
          </a:p>
        </p:txBody>
      </p:sp>
      <p:sp>
        <p:nvSpPr>
          <p:cNvPr id="9" name="Text 7"/>
          <p:cNvSpPr txBox="1"/>
          <p:nvPr/>
        </p:nvSpPr>
        <p:spPr>
          <a:xfrm>
            <a:off x="3703320" y="2514600"/>
            <a:ext cx="7406640" cy="868680"/>
          </a:xfrm>
          <a:prstGeom prst="rect">
            <a:avLst/>
          </a:prstGeom>
          <a:noFill/>
          <a:ln/>
        </p:spPr>
        <p:txBody>
          <a:bodyPr wrap="square" lIns="0" tIns="0" rIns="0" bIns="0" rtlCol="0" anchor="ctr"/>
          <a:lstStyle/>
          <a:p>
            <a:pPr indent="0" marL="0">
              <a:buNone/>
            </a:pPr>
            <a:r>
              <a:rPr lang="en-US" sz="2200" dirty="0">
                <a:solidFill>
                  <a:srgbClr val="2A2E33"/>
                </a:solidFill>
                <a:latin typeface="Calibri" pitchFamily="34" charset="0"/>
                <a:ea typeface="Calibri" pitchFamily="34" charset="-122"/>
                <a:cs typeface="Calibri" pitchFamily="34" charset="-120"/>
              </a:rPr>
              <a:t>STOP</a:t>
            </a:r>
            <a:endParaRPr lang="en-US" sz="2200" dirty="0"/>
          </a:p>
        </p:txBody>
      </p:sp>
      <p:sp>
        <p:nvSpPr>
          <p:cNvPr id="10" name="Shape 8"/>
          <p:cNvSpPr/>
          <p:nvPr/>
        </p:nvSpPr>
        <p:spPr>
          <a:xfrm>
            <a:off x="777240" y="3520440"/>
            <a:ext cx="10607040" cy="868680"/>
          </a:xfrm>
          <a:prstGeom prst="roundRect">
            <a:avLst>
              <a:gd name="adj" fmla="val 10526"/>
            </a:avLst>
          </a:prstGeom>
          <a:solidFill>
            <a:srgbClr val="FFFFFF"/>
          </a:solidFill>
          <a:ln w="12700">
            <a:solidFill>
              <a:srgbClr val="DFE3E7"/>
            </a:solidFill>
            <a:prstDash val="solid"/>
          </a:ln>
        </p:spPr>
      </p:sp>
      <p:sp>
        <p:nvSpPr>
          <p:cNvPr id="11" name="Shape 9"/>
          <p:cNvSpPr/>
          <p:nvPr/>
        </p:nvSpPr>
        <p:spPr>
          <a:xfrm>
            <a:off x="1051560" y="3739896"/>
            <a:ext cx="429768" cy="429768"/>
          </a:xfrm>
          <a:prstGeom prst="ellipse">
            <a:avLst/>
          </a:prstGeom>
          <a:solidFill>
            <a:srgbClr val="D6A83A"/>
          </a:solidFill>
          <a:ln/>
        </p:spPr>
      </p:sp>
      <p:sp>
        <p:nvSpPr>
          <p:cNvPr id="12" name="Text 10"/>
          <p:cNvSpPr txBox="1"/>
          <p:nvPr/>
        </p:nvSpPr>
        <p:spPr>
          <a:xfrm>
            <a:off x="1691640" y="3520440"/>
            <a:ext cx="2011680" cy="868680"/>
          </a:xfrm>
          <a:prstGeom prst="rect">
            <a:avLst/>
          </a:prstGeom>
          <a:noFill/>
          <a:ln/>
        </p:spPr>
        <p:txBody>
          <a:bodyPr wrap="square" lIns="0" tIns="0" rIns="0" bIns="0" rtlCol="0" anchor="ctr"/>
          <a:lstStyle/>
          <a:p>
            <a:pPr indent="0" marL="0">
              <a:buNone/>
            </a:pPr>
            <a:r>
              <a:rPr lang="en-US" sz="2400" b="1" dirty="0">
                <a:solidFill>
                  <a:srgbClr val="0A0A0C"/>
                </a:solidFill>
                <a:latin typeface="Arial" pitchFamily="34" charset="0"/>
                <a:ea typeface="Arial" pitchFamily="34" charset="-122"/>
                <a:cs typeface="Arial" pitchFamily="34" charset="-120"/>
              </a:rPr>
              <a:t>YELLOW</a:t>
            </a:r>
            <a:endParaRPr lang="en-US" sz="2400" dirty="0"/>
          </a:p>
        </p:txBody>
      </p:sp>
      <p:sp>
        <p:nvSpPr>
          <p:cNvPr id="13" name="Text 11"/>
          <p:cNvSpPr txBox="1"/>
          <p:nvPr/>
        </p:nvSpPr>
        <p:spPr>
          <a:xfrm>
            <a:off x="3703320" y="3520440"/>
            <a:ext cx="7406640" cy="868680"/>
          </a:xfrm>
          <a:prstGeom prst="rect">
            <a:avLst/>
          </a:prstGeom>
          <a:noFill/>
          <a:ln/>
        </p:spPr>
        <p:txBody>
          <a:bodyPr wrap="square" lIns="0" tIns="0" rIns="0" bIns="0" rtlCol="0" anchor="ctr"/>
          <a:lstStyle/>
          <a:p>
            <a:pPr indent="0" marL="0">
              <a:buNone/>
            </a:pPr>
            <a:r>
              <a:rPr lang="en-US" sz="2200" dirty="0">
                <a:solidFill>
                  <a:srgbClr val="2A2E33"/>
                </a:solidFill>
                <a:latin typeface="Calibri" pitchFamily="34" charset="0"/>
                <a:ea typeface="Calibri" pitchFamily="34" charset="-122"/>
                <a:cs typeface="Calibri" pitchFamily="34" charset="-120"/>
              </a:rPr>
              <a:t>PROCEED WITH CAUTION</a:t>
            </a:r>
            <a:endParaRPr lang="en-US" sz="2200" dirty="0"/>
          </a:p>
        </p:txBody>
      </p:sp>
      <p:sp>
        <p:nvSpPr>
          <p:cNvPr id="14" name="Shape 12"/>
          <p:cNvSpPr/>
          <p:nvPr/>
        </p:nvSpPr>
        <p:spPr>
          <a:xfrm>
            <a:off x="777240" y="4526280"/>
            <a:ext cx="10607040" cy="868680"/>
          </a:xfrm>
          <a:prstGeom prst="roundRect">
            <a:avLst>
              <a:gd name="adj" fmla="val 10526"/>
            </a:avLst>
          </a:prstGeom>
          <a:solidFill>
            <a:srgbClr val="FFFFFF"/>
          </a:solidFill>
          <a:ln w="12700">
            <a:solidFill>
              <a:srgbClr val="DFE3E7"/>
            </a:solidFill>
            <a:prstDash val="solid"/>
          </a:ln>
        </p:spPr>
      </p:sp>
      <p:sp>
        <p:nvSpPr>
          <p:cNvPr id="15" name="Shape 13"/>
          <p:cNvSpPr/>
          <p:nvPr/>
        </p:nvSpPr>
        <p:spPr>
          <a:xfrm>
            <a:off x="1051560" y="4745736"/>
            <a:ext cx="429768" cy="429768"/>
          </a:xfrm>
          <a:prstGeom prst="ellipse">
            <a:avLst/>
          </a:prstGeom>
          <a:solidFill>
            <a:srgbClr val="2ECC34"/>
          </a:solidFill>
          <a:ln/>
        </p:spPr>
      </p:sp>
      <p:sp>
        <p:nvSpPr>
          <p:cNvPr id="16" name="Text 14"/>
          <p:cNvSpPr txBox="1"/>
          <p:nvPr/>
        </p:nvSpPr>
        <p:spPr>
          <a:xfrm>
            <a:off x="1691640" y="4526280"/>
            <a:ext cx="2011680" cy="868680"/>
          </a:xfrm>
          <a:prstGeom prst="rect">
            <a:avLst/>
          </a:prstGeom>
          <a:noFill/>
          <a:ln/>
        </p:spPr>
        <p:txBody>
          <a:bodyPr wrap="square" lIns="0" tIns="0" rIns="0" bIns="0" rtlCol="0" anchor="ctr"/>
          <a:lstStyle/>
          <a:p>
            <a:pPr indent="0" marL="0">
              <a:buNone/>
            </a:pPr>
            <a:r>
              <a:rPr lang="en-US" sz="2400" b="1" dirty="0">
                <a:solidFill>
                  <a:srgbClr val="0A0A0C"/>
                </a:solidFill>
                <a:latin typeface="Arial" pitchFamily="34" charset="0"/>
                <a:ea typeface="Arial" pitchFamily="34" charset="-122"/>
                <a:cs typeface="Arial" pitchFamily="34" charset="-120"/>
              </a:rPr>
              <a:t>GREEN</a:t>
            </a:r>
            <a:endParaRPr lang="en-US" sz="2400" dirty="0"/>
          </a:p>
        </p:txBody>
      </p:sp>
      <p:sp>
        <p:nvSpPr>
          <p:cNvPr id="17" name="Text 15"/>
          <p:cNvSpPr txBox="1"/>
          <p:nvPr/>
        </p:nvSpPr>
        <p:spPr>
          <a:xfrm>
            <a:off x="3703320" y="4526280"/>
            <a:ext cx="7406640" cy="868680"/>
          </a:xfrm>
          <a:prstGeom prst="rect">
            <a:avLst/>
          </a:prstGeom>
          <a:noFill/>
          <a:ln/>
        </p:spPr>
        <p:txBody>
          <a:bodyPr wrap="square" lIns="0" tIns="0" rIns="0" bIns="0" rtlCol="0" anchor="ctr"/>
          <a:lstStyle/>
          <a:p>
            <a:pPr indent="0" marL="0">
              <a:buNone/>
            </a:pPr>
            <a:r>
              <a:rPr lang="en-US" sz="2200" dirty="0">
                <a:solidFill>
                  <a:srgbClr val="2A2E33"/>
                </a:solidFill>
                <a:latin typeface="Calibri" pitchFamily="34" charset="0"/>
                <a:ea typeface="Calibri" pitchFamily="34" charset="-122"/>
                <a:cs typeface="Calibri" pitchFamily="34" charset="-120"/>
              </a:rPr>
              <a:t>GO</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you can</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read a traffic light.</a:t>
            </a:r>
            <a:endParaRPr lang="en-US" sz="4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777240" y="777240"/>
            <a:ext cx="155448" cy="155448"/>
          </a:xfrm>
          <a:prstGeom prst="ellipse">
            <a:avLst/>
          </a:prstGeom>
          <a:solidFill>
            <a:srgbClr val="D61A20"/>
          </a:solidFill>
          <a:ln/>
        </p:spPr>
      </p:sp>
      <p:sp>
        <p:nvSpPr>
          <p:cNvPr id="3" name="Shape 1"/>
          <p:cNvSpPr/>
          <p:nvPr/>
        </p:nvSpPr>
        <p:spPr>
          <a:xfrm>
            <a:off x="1033272" y="777240"/>
            <a:ext cx="155448" cy="155448"/>
          </a:xfrm>
          <a:prstGeom prst="ellipse">
            <a:avLst/>
          </a:prstGeom>
          <a:solidFill>
            <a:srgbClr val="D6A83A"/>
          </a:solidFill>
          <a:ln/>
        </p:spPr>
      </p:sp>
      <p:sp>
        <p:nvSpPr>
          <p:cNvPr id="4" name="Shape 2"/>
          <p:cNvSpPr/>
          <p:nvPr/>
        </p:nvSpPr>
        <p:spPr>
          <a:xfrm>
            <a:off x="1289304" y="777240"/>
            <a:ext cx="155448" cy="155448"/>
          </a:xfrm>
          <a:prstGeom prst="ellipse">
            <a:avLst/>
          </a:prstGeom>
          <a:solidFill>
            <a:srgbClr val="2ECC34"/>
          </a:solidFill>
          <a:ln/>
        </p:spPr>
      </p:sp>
      <p:sp>
        <p:nvSpPr>
          <p:cNvPr id="5" name="Text 3"/>
          <p:cNvSpPr txBox="1"/>
          <p:nvPr/>
        </p:nvSpPr>
        <p:spPr>
          <a:xfrm>
            <a:off x="777240" y="1097280"/>
            <a:ext cx="10607040" cy="640080"/>
          </a:xfrm>
          <a:prstGeom prst="rect">
            <a:avLst/>
          </a:prstGeom>
          <a:noFill/>
          <a:ln/>
        </p:spPr>
        <p:txBody>
          <a:bodyPr wrap="square" lIns="0" tIns="0" rIns="0" bIns="0" rtlCol="0" anchor="ctr"/>
          <a:lstStyle/>
          <a:p>
            <a:pPr algn="l" indent="0" marL="0">
              <a:lnSpc>
                <a:spcPts val="5200"/>
              </a:lnSpc>
              <a:buNone/>
            </a:pPr>
            <a:r>
              <a:rPr lang="en-US" sz="3400" b="1" dirty="0">
                <a:solidFill>
                  <a:srgbClr val="0A0A0C"/>
                </a:solidFill>
                <a:latin typeface="Arial" pitchFamily="34" charset="0"/>
                <a:ea typeface="Arial" pitchFamily="34" charset="-122"/>
                <a:cs typeface="Arial" pitchFamily="34" charset="-120"/>
              </a:rPr>
              <a:t>THE TEN QUESTIONS EVERY LENDER ASKS</a:t>
            </a:r>
            <a:endParaRPr lang="en-US" sz="3400" dirty="0"/>
          </a:p>
        </p:txBody>
      </p:sp>
      <p:sp>
        <p:nvSpPr>
          <p:cNvPr id="6" name="Shape 4"/>
          <p:cNvSpPr/>
          <p:nvPr/>
        </p:nvSpPr>
        <p:spPr>
          <a:xfrm>
            <a:off x="777240" y="1965960"/>
            <a:ext cx="5166360" cy="566928"/>
          </a:xfrm>
          <a:prstGeom prst="roundRect">
            <a:avLst>
              <a:gd name="adj" fmla="val 12903"/>
            </a:avLst>
          </a:prstGeom>
          <a:solidFill>
            <a:srgbClr val="FFFFFF"/>
          </a:solidFill>
          <a:ln w="12700">
            <a:solidFill>
              <a:srgbClr val="DFE3E7"/>
            </a:solidFill>
            <a:prstDash val="solid"/>
          </a:ln>
        </p:spPr>
      </p:sp>
      <p:sp>
        <p:nvSpPr>
          <p:cNvPr id="7" name="Shape 5"/>
          <p:cNvSpPr/>
          <p:nvPr/>
        </p:nvSpPr>
        <p:spPr>
          <a:xfrm>
            <a:off x="923544" y="2139696"/>
            <a:ext cx="219456" cy="219456"/>
          </a:xfrm>
          <a:prstGeom prst="ellipse">
            <a:avLst/>
          </a:prstGeom>
          <a:solidFill>
            <a:srgbClr val="C7CDD4"/>
          </a:solidFill>
          <a:ln/>
        </p:spPr>
      </p:sp>
      <p:sp>
        <p:nvSpPr>
          <p:cNvPr id="8" name="Text 6"/>
          <p:cNvSpPr txBox="1"/>
          <p:nvPr/>
        </p:nvSpPr>
        <p:spPr>
          <a:xfrm>
            <a:off x="1252728" y="1965960"/>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1. 700 credit score?</a:t>
            </a:r>
            <a:endParaRPr lang="en-US" sz="1400" dirty="0"/>
          </a:p>
        </p:txBody>
      </p:sp>
      <p:sp>
        <p:nvSpPr>
          <p:cNvPr id="9" name="Shape 7"/>
          <p:cNvSpPr/>
          <p:nvPr/>
        </p:nvSpPr>
        <p:spPr>
          <a:xfrm>
            <a:off x="777240" y="2624328"/>
            <a:ext cx="5166360" cy="566928"/>
          </a:xfrm>
          <a:prstGeom prst="roundRect">
            <a:avLst>
              <a:gd name="adj" fmla="val 12903"/>
            </a:avLst>
          </a:prstGeom>
          <a:solidFill>
            <a:srgbClr val="FFFFFF"/>
          </a:solidFill>
          <a:ln w="12700">
            <a:solidFill>
              <a:srgbClr val="DFE3E7"/>
            </a:solidFill>
            <a:prstDash val="solid"/>
          </a:ln>
        </p:spPr>
      </p:sp>
      <p:sp>
        <p:nvSpPr>
          <p:cNvPr id="10" name="Shape 8"/>
          <p:cNvSpPr/>
          <p:nvPr/>
        </p:nvSpPr>
        <p:spPr>
          <a:xfrm>
            <a:off x="923544" y="2798064"/>
            <a:ext cx="219456" cy="219456"/>
          </a:xfrm>
          <a:prstGeom prst="ellipse">
            <a:avLst/>
          </a:prstGeom>
          <a:solidFill>
            <a:srgbClr val="C7CDD4"/>
          </a:solidFill>
          <a:ln/>
        </p:spPr>
      </p:sp>
      <p:sp>
        <p:nvSpPr>
          <p:cNvPr id="11" name="Text 9"/>
          <p:cNvSpPr txBox="1"/>
          <p:nvPr/>
        </p:nvSpPr>
        <p:spPr>
          <a:xfrm>
            <a:off x="1252728" y="2624328"/>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2. Under 30% utilization?</a:t>
            </a:r>
            <a:endParaRPr lang="en-US" sz="1400" dirty="0"/>
          </a:p>
        </p:txBody>
      </p:sp>
      <p:sp>
        <p:nvSpPr>
          <p:cNvPr id="12" name="Shape 10"/>
          <p:cNvSpPr/>
          <p:nvPr/>
        </p:nvSpPr>
        <p:spPr>
          <a:xfrm>
            <a:off x="777240" y="3282696"/>
            <a:ext cx="5166360" cy="566928"/>
          </a:xfrm>
          <a:prstGeom prst="roundRect">
            <a:avLst>
              <a:gd name="adj" fmla="val 12903"/>
            </a:avLst>
          </a:prstGeom>
          <a:solidFill>
            <a:srgbClr val="FFFFFF"/>
          </a:solidFill>
          <a:ln w="12700">
            <a:solidFill>
              <a:srgbClr val="DFE3E7"/>
            </a:solidFill>
            <a:prstDash val="solid"/>
          </a:ln>
        </p:spPr>
      </p:sp>
      <p:sp>
        <p:nvSpPr>
          <p:cNvPr id="13" name="Shape 11"/>
          <p:cNvSpPr/>
          <p:nvPr/>
        </p:nvSpPr>
        <p:spPr>
          <a:xfrm>
            <a:off x="923544" y="3456432"/>
            <a:ext cx="219456" cy="219456"/>
          </a:xfrm>
          <a:prstGeom prst="ellipse">
            <a:avLst/>
          </a:prstGeom>
          <a:solidFill>
            <a:srgbClr val="C7CDD4"/>
          </a:solidFill>
          <a:ln/>
        </p:spPr>
      </p:sp>
      <p:sp>
        <p:nvSpPr>
          <p:cNvPr id="14" name="Text 12"/>
          <p:cNvSpPr txBox="1"/>
          <p:nvPr/>
        </p:nvSpPr>
        <p:spPr>
          <a:xfrm>
            <a:off x="1252728" y="3282696"/>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3. 5 open primary cards, 2 yrs good history?</a:t>
            </a:r>
            <a:endParaRPr lang="en-US" sz="1400" dirty="0"/>
          </a:p>
        </p:txBody>
      </p:sp>
      <p:sp>
        <p:nvSpPr>
          <p:cNvPr id="15" name="Shape 13"/>
          <p:cNvSpPr/>
          <p:nvPr/>
        </p:nvSpPr>
        <p:spPr>
          <a:xfrm>
            <a:off x="777240" y="3941064"/>
            <a:ext cx="5166360" cy="566928"/>
          </a:xfrm>
          <a:prstGeom prst="roundRect">
            <a:avLst>
              <a:gd name="adj" fmla="val 12903"/>
            </a:avLst>
          </a:prstGeom>
          <a:solidFill>
            <a:srgbClr val="FFFFFF"/>
          </a:solidFill>
          <a:ln w="12700">
            <a:solidFill>
              <a:srgbClr val="DFE3E7"/>
            </a:solidFill>
            <a:prstDash val="solid"/>
          </a:ln>
        </p:spPr>
      </p:sp>
      <p:sp>
        <p:nvSpPr>
          <p:cNvPr id="16" name="Shape 14"/>
          <p:cNvSpPr/>
          <p:nvPr/>
        </p:nvSpPr>
        <p:spPr>
          <a:xfrm>
            <a:off x="923544" y="4114800"/>
            <a:ext cx="219456" cy="219456"/>
          </a:xfrm>
          <a:prstGeom prst="ellipse">
            <a:avLst/>
          </a:prstGeom>
          <a:solidFill>
            <a:srgbClr val="C7CDD4"/>
          </a:solidFill>
          <a:ln/>
        </p:spPr>
      </p:sp>
      <p:sp>
        <p:nvSpPr>
          <p:cNvPr id="17" name="Text 15"/>
          <p:cNvSpPr txBox="1"/>
          <p:nvPr/>
        </p:nvSpPr>
        <p:spPr>
          <a:xfrm>
            <a:off x="1252728" y="3941064"/>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4. 3 primary cards, 3 yrs old, $5,000 limit?</a:t>
            </a:r>
            <a:endParaRPr lang="en-US" sz="1400" dirty="0"/>
          </a:p>
        </p:txBody>
      </p:sp>
      <p:sp>
        <p:nvSpPr>
          <p:cNvPr id="18" name="Shape 16"/>
          <p:cNvSpPr/>
          <p:nvPr/>
        </p:nvSpPr>
        <p:spPr>
          <a:xfrm>
            <a:off x="777240" y="4599432"/>
            <a:ext cx="5166360" cy="566928"/>
          </a:xfrm>
          <a:prstGeom prst="roundRect">
            <a:avLst>
              <a:gd name="adj" fmla="val 12903"/>
            </a:avLst>
          </a:prstGeom>
          <a:solidFill>
            <a:srgbClr val="FFFFFF"/>
          </a:solidFill>
          <a:ln w="12700">
            <a:solidFill>
              <a:srgbClr val="DFE3E7"/>
            </a:solidFill>
            <a:prstDash val="solid"/>
          </a:ln>
        </p:spPr>
      </p:sp>
      <p:sp>
        <p:nvSpPr>
          <p:cNvPr id="19" name="Shape 17"/>
          <p:cNvSpPr/>
          <p:nvPr/>
        </p:nvSpPr>
        <p:spPr>
          <a:xfrm>
            <a:off x="923544" y="4773168"/>
            <a:ext cx="219456" cy="219456"/>
          </a:xfrm>
          <a:prstGeom prst="ellipse">
            <a:avLst/>
          </a:prstGeom>
          <a:solidFill>
            <a:srgbClr val="C7CDD4"/>
          </a:solidFill>
          <a:ln/>
        </p:spPr>
      </p:sp>
      <p:sp>
        <p:nvSpPr>
          <p:cNvPr id="20" name="Text 18"/>
          <p:cNvSpPr txBox="1"/>
          <p:nvPr/>
        </p:nvSpPr>
        <p:spPr>
          <a:xfrm>
            <a:off x="1252728" y="4599432"/>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5. More than 4 unsecured accounts in 12 months?</a:t>
            </a:r>
            <a:endParaRPr lang="en-US" sz="1400" dirty="0"/>
          </a:p>
        </p:txBody>
      </p:sp>
      <p:sp>
        <p:nvSpPr>
          <p:cNvPr id="21" name="Shape 19"/>
          <p:cNvSpPr/>
          <p:nvPr/>
        </p:nvSpPr>
        <p:spPr>
          <a:xfrm>
            <a:off x="6217920" y="1965960"/>
            <a:ext cx="5166360" cy="566928"/>
          </a:xfrm>
          <a:prstGeom prst="roundRect">
            <a:avLst>
              <a:gd name="adj" fmla="val 12903"/>
            </a:avLst>
          </a:prstGeom>
          <a:solidFill>
            <a:srgbClr val="FFFFFF"/>
          </a:solidFill>
          <a:ln w="12700">
            <a:solidFill>
              <a:srgbClr val="DFE3E7"/>
            </a:solidFill>
            <a:prstDash val="solid"/>
          </a:ln>
        </p:spPr>
      </p:sp>
      <p:sp>
        <p:nvSpPr>
          <p:cNvPr id="22" name="Shape 20"/>
          <p:cNvSpPr/>
          <p:nvPr/>
        </p:nvSpPr>
        <p:spPr>
          <a:xfrm>
            <a:off x="6364224" y="2139696"/>
            <a:ext cx="219456" cy="219456"/>
          </a:xfrm>
          <a:prstGeom prst="ellipse">
            <a:avLst/>
          </a:prstGeom>
          <a:solidFill>
            <a:srgbClr val="C7CDD4"/>
          </a:solidFill>
          <a:ln/>
        </p:spPr>
      </p:sp>
      <p:sp>
        <p:nvSpPr>
          <p:cNvPr id="23" name="Text 21"/>
          <p:cNvSpPr txBox="1"/>
          <p:nvPr/>
        </p:nvSpPr>
        <p:spPr>
          <a:xfrm>
            <a:off x="6693408" y="1965960"/>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6. Under 4 inquiries?</a:t>
            </a:r>
            <a:endParaRPr lang="en-US" sz="1400" dirty="0"/>
          </a:p>
        </p:txBody>
      </p:sp>
      <p:sp>
        <p:nvSpPr>
          <p:cNvPr id="24" name="Shape 22"/>
          <p:cNvSpPr/>
          <p:nvPr/>
        </p:nvSpPr>
        <p:spPr>
          <a:xfrm>
            <a:off x="6217920" y="2624328"/>
            <a:ext cx="5166360" cy="566928"/>
          </a:xfrm>
          <a:prstGeom prst="roundRect">
            <a:avLst>
              <a:gd name="adj" fmla="val 12903"/>
            </a:avLst>
          </a:prstGeom>
          <a:solidFill>
            <a:srgbClr val="FFFFFF"/>
          </a:solidFill>
          <a:ln w="12700">
            <a:solidFill>
              <a:srgbClr val="DFE3E7"/>
            </a:solidFill>
            <a:prstDash val="solid"/>
          </a:ln>
        </p:spPr>
      </p:sp>
      <p:sp>
        <p:nvSpPr>
          <p:cNvPr id="25" name="Shape 23"/>
          <p:cNvSpPr/>
          <p:nvPr/>
        </p:nvSpPr>
        <p:spPr>
          <a:xfrm>
            <a:off x="6364224" y="2798064"/>
            <a:ext cx="219456" cy="219456"/>
          </a:xfrm>
          <a:prstGeom prst="ellipse">
            <a:avLst/>
          </a:prstGeom>
          <a:solidFill>
            <a:srgbClr val="C7CDD4"/>
          </a:solidFill>
          <a:ln/>
        </p:spPr>
      </p:sp>
      <p:sp>
        <p:nvSpPr>
          <p:cNvPr id="26" name="Text 24"/>
          <p:cNvSpPr txBox="1"/>
          <p:nvPr/>
        </p:nvSpPr>
        <p:spPr>
          <a:xfrm>
            <a:off x="6693408" y="2624328"/>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7. Collections?</a:t>
            </a:r>
            <a:endParaRPr lang="en-US" sz="1400" dirty="0"/>
          </a:p>
        </p:txBody>
      </p:sp>
      <p:sp>
        <p:nvSpPr>
          <p:cNvPr id="27" name="Shape 25"/>
          <p:cNvSpPr/>
          <p:nvPr/>
        </p:nvSpPr>
        <p:spPr>
          <a:xfrm>
            <a:off x="6217920" y="3282696"/>
            <a:ext cx="5166360" cy="566928"/>
          </a:xfrm>
          <a:prstGeom prst="roundRect">
            <a:avLst>
              <a:gd name="adj" fmla="val 12903"/>
            </a:avLst>
          </a:prstGeom>
          <a:solidFill>
            <a:srgbClr val="FFFFFF"/>
          </a:solidFill>
          <a:ln w="12700">
            <a:solidFill>
              <a:srgbClr val="DFE3E7"/>
            </a:solidFill>
            <a:prstDash val="solid"/>
          </a:ln>
        </p:spPr>
      </p:sp>
      <p:sp>
        <p:nvSpPr>
          <p:cNvPr id="28" name="Shape 26"/>
          <p:cNvSpPr/>
          <p:nvPr/>
        </p:nvSpPr>
        <p:spPr>
          <a:xfrm>
            <a:off x="6364224" y="3456432"/>
            <a:ext cx="219456" cy="219456"/>
          </a:xfrm>
          <a:prstGeom prst="ellipse">
            <a:avLst/>
          </a:prstGeom>
          <a:solidFill>
            <a:srgbClr val="C7CDD4"/>
          </a:solidFill>
          <a:ln/>
        </p:spPr>
      </p:sp>
      <p:sp>
        <p:nvSpPr>
          <p:cNvPr id="29" name="Text 27"/>
          <p:cNvSpPr txBox="1"/>
          <p:nvPr/>
        </p:nvSpPr>
        <p:spPr>
          <a:xfrm>
            <a:off x="6693408" y="3282696"/>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8. Charge-offs?</a:t>
            </a:r>
            <a:endParaRPr lang="en-US" sz="1400" dirty="0"/>
          </a:p>
        </p:txBody>
      </p:sp>
      <p:sp>
        <p:nvSpPr>
          <p:cNvPr id="30" name="Shape 28"/>
          <p:cNvSpPr/>
          <p:nvPr/>
        </p:nvSpPr>
        <p:spPr>
          <a:xfrm>
            <a:off x="6217920" y="3941064"/>
            <a:ext cx="5166360" cy="566928"/>
          </a:xfrm>
          <a:prstGeom prst="roundRect">
            <a:avLst>
              <a:gd name="adj" fmla="val 12903"/>
            </a:avLst>
          </a:prstGeom>
          <a:solidFill>
            <a:srgbClr val="FFFFFF"/>
          </a:solidFill>
          <a:ln w="12700">
            <a:solidFill>
              <a:srgbClr val="DFE3E7"/>
            </a:solidFill>
            <a:prstDash val="solid"/>
          </a:ln>
        </p:spPr>
      </p:sp>
      <p:sp>
        <p:nvSpPr>
          <p:cNvPr id="31" name="Shape 29"/>
          <p:cNvSpPr/>
          <p:nvPr/>
        </p:nvSpPr>
        <p:spPr>
          <a:xfrm>
            <a:off x="6364224" y="4114800"/>
            <a:ext cx="219456" cy="219456"/>
          </a:xfrm>
          <a:prstGeom prst="ellipse">
            <a:avLst/>
          </a:prstGeom>
          <a:solidFill>
            <a:srgbClr val="C7CDD4"/>
          </a:solidFill>
          <a:ln/>
        </p:spPr>
      </p:sp>
      <p:sp>
        <p:nvSpPr>
          <p:cNvPr id="32" name="Text 30"/>
          <p:cNvSpPr txBox="1"/>
          <p:nvPr/>
        </p:nvSpPr>
        <p:spPr>
          <a:xfrm>
            <a:off x="6693408" y="3941064"/>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9. Late payments?</a:t>
            </a:r>
            <a:endParaRPr lang="en-US" sz="1400" dirty="0"/>
          </a:p>
        </p:txBody>
      </p:sp>
      <p:sp>
        <p:nvSpPr>
          <p:cNvPr id="33" name="Shape 31"/>
          <p:cNvSpPr/>
          <p:nvPr/>
        </p:nvSpPr>
        <p:spPr>
          <a:xfrm>
            <a:off x="6217920" y="4599432"/>
            <a:ext cx="5166360" cy="566928"/>
          </a:xfrm>
          <a:prstGeom prst="roundRect">
            <a:avLst>
              <a:gd name="adj" fmla="val 12903"/>
            </a:avLst>
          </a:prstGeom>
          <a:solidFill>
            <a:srgbClr val="FFFFFF"/>
          </a:solidFill>
          <a:ln w="12700">
            <a:solidFill>
              <a:srgbClr val="DFE3E7"/>
            </a:solidFill>
            <a:prstDash val="solid"/>
          </a:ln>
        </p:spPr>
      </p:sp>
      <p:sp>
        <p:nvSpPr>
          <p:cNvPr id="34" name="Shape 32"/>
          <p:cNvSpPr/>
          <p:nvPr/>
        </p:nvSpPr>
        <p:spPr>
          <a:xfrm>
            <a:off x="6364224" y="4773168"/>
            <a:ext cx="219456" cy="219456"/>
          </a:xfrm>
          <a:prstGeom prst="ellipse">
            <a:avLst/>
          </a:prstGeom>
          <a:solidFill>
            <a:srgbClr val="C7CDD4"/>
          </a:solidFill>
          <a:ln/>
        </p:spPr>
      </p:sp>
      <p:sp>
        <p:nvSpPr>
          <p:cNvPr id="35" name="Text 33"/>
          <p:cNvSpPr txBox="1"/>
          <p:nvPr/>
        </p:nvSpPr>
        <p:spPr>
          <a:xfrm>
            <a:off x="6693408" y="4599432"/>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10. Bankruptcy?</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you've never seen</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these ten questions written</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down anywhere before.</a:t>
            </a:r>
            <a:endParaRPr lang="en-US" sz="4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7800" b="1" dirty="0">
                <a:solidFill>
                  <a:srgbClr val="FFFFFF"/>
                </a:solidFill>
                <a:latin typeface="Arial" pitchFamily="34" charset="0"/>
                <a:ea typeface="Arial" pitchFamily="34" charset="-122"/>
                <a:cs typeface="Arial" pitchFamily="34" charset="-120"/>
              </a:rPr>
              <a:t>Are you eligible?</a:t>
            </a:r>
            <a:endParaRPr lang="en-US" sz="7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5200" b="1" dirty="0">
                <a:solidFill>
                  <a:srgbClr val="0A0A0C"/>
                </a:solidFill>
                <a:latin typeface="Arial" pitchFamily="34" charset="0"/>
                <a:ea typeface="Arial" pitchFamily="34" charset="-122"/>
                <a:cs typeface="Arial" pitchFamily="34" charset="-120"/>
              </a:rPr>
              <a:t>Let's read a real file.</a:t>
            </a:r>
            <a:endParaRPr lang="en-US" sz="5200" dirty="0"/>
          </a:p>
        </p:txBody>
      </p:sp>
      <p:sp>
        <p:nvSpPr>
          <p:cNvPr id="6" name="Text 4"/>
          <p:cNvSpPr txBox="1"/>
          <p:nvPr/>
        </p:nvSpPr>
        <p:spPr>
          <a:xfrm>
            <a:off x="777240" y="4114800"/>
            <a:ext cx="10607040" cy="1005840"/>
          </a:xfrm>
          <a:prstGeom prst="rect">
            <a:avLst/>
          </a:prstGeom>
          <a:noFill/>
          <a:ln/>
        </p:spPr>
        <p:txBody>
          <a:bodyPr wrap="square" lIns="0" tIns="0" rIns="0" bIns="0" rtlCol="0" anchor="ctr"/>
          <a:lstStyle/>
          <a:p>
            <a:pPr indent="0" marL="0">
              <a:buNone/>
            </a:pPr>
            <a:r>
              <a:rPr lang="en-US" sz="2600" dirty="0">
                <a:solidFill>
                  <a:srgbClr val="2A2E33"/>
                </a:solidFill>
                <a:latin typeface="Calibri" pitchFamily="34" charset="0"/>
                <a:ea typeface="Calibri" pitchFamily="34" charset="-122"/>
                <a:cs typeface="Calibri" pitchFamily="34" charset="-120"/>
              </a:rPr>
              <a:t>You call it. Red, yellow, or green.</a:t>
            </a:r>
            <a:endParaRPr lang="en-US" sz="2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777240" y="777240"/>
            <a:ext cx="155448" cy="155448"/>
          </a:xfrm>
          <a:prstGeom prst="ellipse">
            <a:avLst/>
          </a:prstGeom>
          <a:solidFill>
            <a:srgbClr val="D61A20"/>
          </a:solidFill>
          <a:ln/>
        </p:spPr>
      </p:sp>
      <p:sp>
        <p:nvSpPr>
          <p:cNvPr id="3" name="Shape 1"/>
          <p:cNvSpPr/>
          <p:nvPr/>
        </p:nvSpPr>
        <p:spPr>
          <a:xfrm>
            <a:off x="1033272" y="777240"/>
            <a:ext cx="155448" cy="155448"/>
          </a:xfrm>
          <a:prstGeom prst="ellipse">
            <a:avLst/>
          </a:prstGeom>
          <a:solidFill>
            <a:srgbClr val="D6A83A"/>
          </a:solidFill>
          <a:ln/>
        </p:spPr>
      </p:sp>
      <p:sp>
        <p:nvSpPr>
          <p:cNvPr id="4" name="Shape 2"/>
          <p:cNvSpPr/>
          <p:nvPr/>
        </p:nvSpPr>
        <p:spPr>
          <a:xfrm>
            <a:off x="1289304" y="777240"/>
            <a:ext cx="155448" cy="155448"/>
          </a:xfrm>
          <a:prstGeom prst="ellipse">
            <a:avLst/>
          </a:prstGeom>
          <a:solidFill>
            <a:srgbClr val="2ECC34"/>
          </a:solidFill>
          <a:ln/>
        </p:spPr>
      </p:sp>
      <p:sp>
        <p:nvSpPr>
          <p:cNvPr id="5" name="Text 3"/>
          <p:cNvSpPr txBox="1"/>
          <p:nvPr/>
        </p:nvSpPr>
        <p:spPr>
          <a:xfrm>
            <a:off x="777240" y="1097280"/>
            <a:ext cx="10607040" cy="640080"/>
          </a:xfrm>
          <a:prstGeom prst="rect">
            <a:avLst/>
          </a:prstGeom>
          <a:noFill/>
          <a:ln/>
        </p:spPr>
        <p:txBody>
          <a:bodyPr wrap="square" lIns="0" tIns="0" rIns="0" bIns="0" rtlCol="0" anchor="ctr"/>
          <a:lstStyle/>
          <a:p>
            <a:pPr algn="l" indent="0" marL="0">
              <a:lnSpc>
                <a:spcPts val="5200"/>
              </a:lnSpc>
              <a:buNone/>
            </a:pPr>
            <a:r>
              <a:rPr lang="en-US" sz="3400" b="1" dirty="0">
                <a:solidFill>
                  <a:srgbClr val="0A0A0C"/>
                </a:solidFill>
                <a:latin typeface="Arial" pitchFamily="34" charset="0"/>
                <a:ea typeface="Arial" pitchFamily="34" charset="-122"/>
                <a:cs typeface="Arial" pitchFamily="34" charset="-120"/>
              </a:rPr>
              <a:t>A REAL FILE — YOU CALL IT</a:t>
            </a:r>
            <a:endParaRPr lang="en-US" sz="3400" dirty="0"/>
          </a:p>
        </p:txBody>
      </p:sp>
      <p:sp>
        <p:nvSpPr>
          <p:cNvPr id="6" name="Shape 4"/>
          <p:cNvSpPr/>
          <p:nvPr/>
        </p:nvSpPr>
        <p:spPr>
          <a:xfrm>
            <a:off x="777240" y="1965960"/>
            <a:ext cx="5166360" cy="566928"/>
          </a:xfrm>
          <a:prstGeom prst="roundRect">
            <a:avLst>
              <a:gd name="adj" fmla="val 12903"/>
            </a:avLst>
          </a:prstGeom>
          <a:solidFill>
            <a:srgbClr val="FFFFFF"/>
          </a:solidFill>
          <a:ln w="12700">
            <a:solidFill>
              <a:srgbClr val="DFE3E7"/>
            </a:solidFill>
            <a:prstDash val="solid"/>
          </a:ln>
        </p:spPr>
      </p:sp>
      <p:sp>
        <p:nvSpPr>
          <p:cNvPr id="7" name="Shape 5"/>
          <p:cNvSpPr/>
          <p:nvPr/>
        </p:nvSpPr>
        <p:spPr>
          <a:xfrm>
            <a:off x="923544" y="2139696"/>
            <a:ext cx="219456" cy="219456"/>
          </a:xfrm>
          <a:prstGeom prst="ellipse">
            <a:avLst/>
          </a:prstGeom>
          <a:solidFill>
            <a:srgbClr val="D61A20"/>
          </a:solidFill>
          <a:ln/>
        </p:spPr>
      </p:sp>
      <p:sp>
        <p:nvSpPr>
          <p:cNvPr id="8" name="Text 6"/>
          <p:cNvSpPr txBox="1"/>
          <p:nvPr/>
        </p:nvSpPr>
        <p:spPr>
          <a:xfrm>
            <a:off x="1252728" y="1965960"/>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1. 700 credit score?</a:t>
            </a:r>
            <a:endParaRPr lang="en-US" sz="1400" dirty="0"/>
          </a:p>
        </p:txBody>
      </p:sp>
      <p:sp>
        <p:nvSpPr>
          <p:cNvPr id="9" name="Shape 7"/>
          <p:cNvSpPr/>
          <p:nvPr/>
        </p:nvSpPr>
        <p:spPr>
          <a:xfrm>
            <a:off x="777240" y="2624328"/>
            <a:ext cx="5166360" cy="566928"/>
          </a:xfrm>
          <a:prstGeom prst="roundRect">
            <a:avLst>
              <a:gd name="adj" fmla="val 12903"/>
            </a:avLst>
          </a:prstGeom>
          <a:solidFill>
            <a:srgbClr val="FFFFFF"/>
          </a:solidFill>
          <a:ln w="12700">
            <a:solidFill>
              <a:srgbClr val="DFE3E7"/>
            </a:solidFill>
            <a:prstDash val="solid"/>
          </a:ln>
        </p:spPr>
      </p:sp>
      <p:sp>
        <p:nvSpPr>
          <p:cNvPr id="10" name="Shape 8"/>
          <p:cNvSpPr/>
          <p:nvPr/>
        </p:nvSpPr>
        <p:spPr>
          <a:xfrm>
            <a:off x="923544" y="2798064"/>
            <a:ext cx="219456" cy="219456"/>
          </a:xfrm>
          <a:prstGeom prst="ellipse">
            <a:avLst/>
          </a:prstGeom>
          <a:solidFill>
            <a:srgbClr val="D61A20"/>
          </a:solidFill>
          <a:ln/>
        </p:spPr>
      </p:sp>
      <p:sp>
        <p:nvSpPr>
          <p:cNvPr id="11" name="Text 9"/>
          <p:cNvSpPr txBox="1"/>
          <p:nvPr/>
        </p:nvSpPr>
        <p:spPr>
          <a:xfrm>
            <a:off x="1252728" y="2624328"/>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2. Under 30% utilization?</a:t>
            </a:r>
            <a:endParaRPr lang="en-US" sz="1400" dirty="0"/>
          </a:p>
        </p:txBody>
      </p:sp>
      <p:sp>
        <p:nvSpPr>
          <p:cNvPr id="12" name="Shape 10"/>
          <p:cNvSpPr/>
          <p:nvPr/>
        </p:nvSpPr>
        <p:spPr>
          <a:xfrm>
            <a:off x="777240" y="3282696"/>
            <a:ext cx="5166360" cy="566928"/>
          </a:xfrm>
          <a:prstGeom prst="roundRect">
            <a:avLst>
              <a:gd name="adj" fmla="val 12903"/>
            </a:avLst>
          </a:prstGeom>
          <a:solidFill>
            <a:srgbClr val="FFFFFF"/>
          </a:solidFill>
          <a:ln w="12700">
            <a:solidFill>
              <a:srgbClr val="DFE3E7"/>
            </a:solidFill>
            <a:prstDash val="solid"/>
          </a:ln>
        </p:spPr>
      </p:sp>
      <p:sp>
        <p:nvSpPr>
          <p:cNvPr id="13" name="Shape 11"/>
          <p:cNvSpPr/>
          <p:nvPr/>
        </p:nvSpPr>
        <p:spPr>
          <a:xfrm>
            <a:off x="923544" y="3456432"/>
            <a:ext cx="219456" cy="219456"/>
          </a:xfrm>
          <a:prstGeom prst="ellipse">
            <a:avLst/>
          </a:prstGeom>
          <a:solidFill>
            <a:srgbClr val="2ECC34"/>
          </a:solidFill>
          <a:ln/>
        </p:spPr>
      </p:sp>
      <p:sp>
        <p:nvSpPr>
          <p:cNvPr id="14" name="Text 12"/>
          <p:cNvSpPr txBox="1"/>
          <p:nvPr/>
        </p:nvSpPr>
        <p:spPr>
          <a:xfrm>
            <a:off x="1252728" y="3282696"/>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3. 5 open primary cards, 2 yrs good history?</a:t>
            </a:r>
            <a:endParaRPr lang="en-US" sz="1400" dirty="0"/>
          </a:p>
        </p:txBody>
      </p:sp>
      <p:sp>
        <p:nvSpPr>
          <p:cNvPr id="15" name="Shape 13"/>
          <p:cNvSpPr/>
          <p:nvPr/>
        </p:nvSpPr>
        <p:spPr>
          <a:xfrm>
            <a:off x="777240" y="3941064"/>
            <a:ext cx="5166360" cy="566928"/>
          </a:xfrm>
          <a:prstGeom prst="roundRect">
            <a:avLst>
              <a:gd name="adj" fmla="val 12903"/>
            </a:avLst>
          </a:prstGeom>
          <a:solidFill>
            <a:srgbClr val="FFFFFF"/>
          </a:solidFill>
          <a:ln w="12700">
            <a:solidFill>
              <a:srgbClr val="DFE3E7"/>
            </a:solidFill>
            <a:prstDash val="solid"/>
          </a:ln>
        </p:spPr>
      </p:sp>
      <p:sp>
        <p:nvSpPr>
          <p:cNvPr id="16" name="Shape 14"/>
          <p:cNvSpPr/>
          <p:nvPr/>
        </p:nvSpPr>
        <p:spPr>
          <a:xfrm>
            <a:off x="923544" y="4114800"/>
            <a:ext cx="219456" cy="219456"/>
          </a:xfrm>
          <a:prstGeom prst="ellipse">
            <a:avLst/>
          </a:prstGeom>
          <a:solidFill>
            <a:srgbClr val="D6A83A"/>
          </a:solidFill>
          <a:ln/>
        </p:spPr>
      </p:sp>
      <p:sp>
        <p:nvSpPr>
          <p:cNvPr id="17" name="Text 15"/>
          <p:cNvSpPr txBox="1"/>
          <p:nvPr/>
        </p:nvSpPr>
        <p:spPr>
          <a:xfrm>
            <a:off x="1252728" y="3941064"/>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4. 3 primary cards, 3 yrs old, $5,000 limit?</a:t>
            </a:r>
            <a:endParaRPr lang="en-US" sz="1400" dirty="0"/>
          </a:p>
        </p:txBody>
      </p:sp>
      <p:sp>
        <p:nvSpPr>
          <p:cNvPr id="18" name="Shape 16"/>
          <p:cNvSpPr/>
          <p:nvPr/>
        </p:nvSpPr>
        <p:spPr>
          <a:xfrm>
            <a:off x="777240" y="4599432"/>
            <a:ext cx="5166360" cy="566928"/>
          </a:xfrm>
          <a:prstGeom prst="roundRect">
            <a:avLst>
              <a:gd name="adj" fmla="val 12903"/>
            </a:avLst>
          </a:prstGeom>
          <a:solidFill>
            <a:srgbClr val="FFFFFF"/>
          </a:solidFill>
          <a:ln w="12700">
            <a:solidFill>
              <a:srgbClr val="DFE3E7"/>
            </a:solidFill>
            <a:prstDash val="solid"/>
          </a:ln>
        </p:spPr>
      </p:sp>
      <p:sp>
        <p:nvSpPr>
          <p:cNvPr id="19" name="Shape 17"/>
          <p:cNvSpPr/>
          <p:nvPr/>
        </p:nvSpPr>
        <p:spPr>
          <a:xfrm>
            <a:off x="923544" y="4773168"/>
            <a:ext cx="219456" cy="219456"/>
          </a:xfrm>
          <a:prstGeom prst="ellipse">
            <a:avLst/>
          </a:prstGeom>
          <a:solidFill>
            <a:srgbClr val="D61A20"/>
          </a:solidFill>
          <a:ln/>
        </p:spPr>
      </p:sp>
      <p:sp>
        <p:nvSpPr>
          <p:cNvPr id="20" name="Text 18"/>
          <p:cNvSpPr txBox="1"/>
          <p:nvPr/>
        </p:nvSpPr>
        <p:spPr>
          <a:xfrm>
            <a:off x="1252728" y="4599432"/>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5. More than 4 unsecured accounts in 12 months?</a:t>
            </a:r>
            <a:endParaRPr lang="en-US" sz="1400" dirty="0"/>
          </a:p>
        </p:txBody>
      </p:sp>
      <p:sp>
        <p:nvSpPr>
          <p:cNvPr id="21" name="Shape 19"/>
          <p:cNvSpPr/>
          <p:nvPr/>
        </p:nvSpPr>
        <p:spPr>
          <a:xfrm>
            <a:off x="6217920" y="1965960"/>
            <a:ext cx="5166360" cy="566928"/>
          </a:xfrm>
          <a:prstGeom prst="roundRect">
            <a:avLst>
              <a:gd name="adj" fmla="val 12903"/>
            </a:avLst>
          </a:prstGeom>
          <a:solidFill>
            <a:srgbClr val="FFFFFF"/>
          </a:solidFill>
          <a:ln w="12700">
            <a:solidFill>
              <a:srgbClr val="DFE3E7"/>
            </a:solidFill>
            <a:prstDash val="solid"/>
          </a:ln>
        </p:spPr>
      </p:sp>
      <p:sp>
        <p:nvSpPr>
          <p:cNvPr id="22" name="Shape 20"/>
          <p:cNvSpPr/>
          <p:nvPr/>
        </p:nvSpPr>
        <p:spPr>
          <a:xfrm>
            <a:off x="6364224" y="2139696"/>
            <a:ext cx="219456" cy="219456"/>
          </a:xfrm>
          <a:prstGeom prst="ellipse">
            <a:avLst/>
          </a:prstGeom>
          <a:solidFill>
            <a:srgbClr val="D61A20"/>
          </a:solidFill>
          <a:ln/>
        </p:spPr>
      </p:sp>
      <p:sp>
        <p:nvSpPr>
          <p:cNvPr id="23" name="Text 21"/>
          <p:cNvSpPr txBox="1"/>
          <p:nvPr/>
        </p:nvSpPr>
        <p:spPr>
          <a:xfrm>
            <a:off x="6693408" y="1965960"/>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6. Under 4 inquiries?</a:t>
            </a:r>
            <a:endParaRPr lang="en-US" sz="1400" dirty="0"/>
          </a:p>
        </p:txBody>
      </p:sp>
      <p:sp>
        <p:nvSpPr>
          <p:cNvPr id="24" name="Shape 22"/>
          <p:cNvSpPr/>
          <p:nvPr/>
        </p:nvSpPr>
        <p:spPr>
          <a:xfrm>
            <a:off x="6217920" y="2624328"/>
            <a:ext cx="5166360" cy="566928"/>
          </a:xfrm>
          <a:prstGeom prst="roundRect">
            <a:avLst>
              <a:gd name="adj" fmla="val 12903"/>
            </a:avLst>
          </a:prstGeom>
          <a:solidFill>
            <a:srgbClr val="FFFFFF"/>
          </a:solidFill>
          <a:ln w="12700">
            <a:solidFill>
              <a:srgbClr val="DFE3E7"/>
            </a:solidFill>
            <a:prstDash val="solid"/>
          </a:ln>
        </p:spPr>
      </p:sp>
      <p:sp>
        <p:nvSpPr>
          <p:cNvPr id="25" name="Shape 23"/>
          <p:cNvSpPr/>
          <p:nvPr/>
        </p:nvSpPr>
        <p:spPr>
          <a:xfrm>
            <a:off x="6364224" y="2798064"/>
            <a:ext cx="219456" cy="219456"/>
          </a:xfrm>
          <a:prstGeom prst="ellipse">
            <a:avLst/>
          </a:prstGeom>
          <a:solidFill>
            <a:srgbClr val="2ECC34"/>
          </a:solidFill>
          <a:ln/>
        </p:spPr>
      </p:sp>
      <p:sp>
        <p:nvSpPr>
          <p:cNvPr id="26" name="Text 24"/>
          <p:cNvSpPr txBox="1"/>
          <p:nvPr/>
        </p:nvSpPr>
        <p:spPr>
          <a:xfrm>
            <a:off x="6693408" y="2624328"/>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7. Collections?</a:t>
            </a:r>
            <a:endParaRPr lang="en-US" sz="1400" dirty="0"/>
          </a:p>
        </p:txBody>
      </p:sp>
      <p:sp>
        <p:nvSpPr>
          <p:cNvPr id="27" name="Shape 25"/>
          <p:cNvSpPr/>
          <p:nvPr/>
        </p:nvSpPr>
        <p:spPr>
          <a:xfrm>
            <a:off x="6217920" y="3282696"/>
            <a:ext cx="5166360" cy="566928"/>
          </a:xfrm>
          <a:prstGeom prst="roundRect">
            <a:avLst>
              <a:gd name="adj" fmla="val 12903"/>
            </a:avLst>
          </a:prstGeom>
          <a:solidFill>
            <a:srgbClr val="FFFFFF"/>
          </a:solidFill>
          <a:ln w="12700">
            <a:solidFill>
              <a:srgbClr val="DFE3E7"/>
            </a:solidFill>
            <a:prstDash val="solid"/>
          </a:ln>
        </p:spPr>
      </p:sp>
      <p:sp>
        <p:nvSpPr>
          <p:cNvPr id="28" name="Shape 26"/>
          <p:cNvSpPr/>
          <p:nvPr/>
        </p:nvSpPr>
        <p:spPr>
          <a:xfrm>
            <a:off x="6364224" y="3456432"/>
            <a:ext cx="219456" cy="219456"/>
          </a:xfrm>
          <a:prstGeom prst="ellipse">
            <a:avLst/>
          </a:prstGeom>
          <a:solidFill>
            <a:srgbClr val="D61A20"/>
          </a:solidFill>
          <a:ln/>
        </p:spPr>
      </p:sp>
      <p:sp>
        <p:nvSpPr>
          <p:cNvPr id="29" name="Text 27"/>
          <p:cNvSpPr txBox="1"/>
          <p:nvPr/>
        </p:nvSpPr>
        <p:spPr>
          <a:xfrm>
            <a:off x="6693408" y="3282696"/>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8. Charge-offs?</a:t>
            </a:r>
            <a:endParaRPr lang="en-US" sz="1400" dirty="0"/>
          </a:p>
        </p:txBody>
      </p:sp>
      <p:sp>
        <p:nvSpPr>
          <p:cNvPr id="30" name="Shape 28"/>
          <p:cNvSpPr/>
          <p:nvPr/>
        </p:nvSpPr>
        <p:spPr>
          <a:xfrm>
            <a:off x="6217920" y="3941064"/>
            <a:ext cx="5166360" cy="566928"/>
          </a:xfrm>
          <a:prstGeom prst="roundRect">
            <a:avLst>
              <a:gd name="adj" fmla="val 12903"/>
            </a:avLst>
          </a:prstGeom>
          <a:solidFill>
            <a:srgbClr val="FFFFFF"/>
          </a:solidFill>
          <a:ln w="12700">
            <a:solidFill>
              <a:srgbClr val="DFE3E7"/>
            </a:solidFill>
            <a:prstDash val="solid"/>
          </a:ln>
        </p:spPr>
      </p:sp>
      <p:sp>
        <p:nvSpPr>
          <p:cNvPr id="31" name="Shape 29"/>
          <p:cNvSpPr/>
          <p:nvPr/>
        </p:nvSpPr>
        <p:spPr>
          <a:xfrm>
            <a:off x="6364224" y="4114800"/>
            <a:ext cx="219456" cy="219456"/>
          </a:xfrm>
          <a:prstGeom prst="ellipse">
            <a:avLst/>
          </a:prstGeom>
          <a:solidFill>
            <a:srgbClr val="D61A20"/>
          </a:solidFill>
          <a:ln/>
        </p:spPr>
      </p:sp>
      <p:sp>
        <p:nvSpPr>
          <p:cNvPr id="32" name="Text 30"/>
          <p:cNvSpPr txBox="1"/>
          <p:nvPr/>
        </p:nvSpPr>
        <p:spPr>
          <a:xfrm>
            <a:off x="6693408" y="3941064"/>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9. Late payments?</a:t>
            </a:r>
            <a:endParaRPr lang="en-US" sz="1400" dirty="0"/>
          </a:p>
        </p:txBody>
      </p:sp>
      <p:sp>
        <p:nvSpPr>
          <p:cNvPr id="33" name="Shape 31"/>
          <p:cNvSpPr/>
          <p:nvPr/>
        </p:nvSpPr>
        <p:spPr>
          <a:xfrm>
            <a:off x="6217920" y="4599432"/>
            <a:ext cx="5166360" cy="566928"/>
          </a:xfrm>
          <a:prstGeom prst="roundRect">
            <a:avLst>
              <a:gd name="adj" fmla="val 12903"/>
            </a:avLst>
          </a:prstGeom>
          <a:solidFill>
            <a:srgbClr val="FFFFFF"/>
          </a:solidFill>
          <a:ln w="12700">
            <a:solidFill>
              <a:srgbClr val="DFE3E7"/>
            </a:solidFill>
            <a:prstDash val="solid"/>
          </a:ln>
        </p:spPr>
      </p:sp>
      <p:sp>
        <p:nvSpPr>
          <p:cNvPr id="34" name="Shape 32"/>
          <p:cNvSpPr/>
          <p:nvPr/>
        </p:nvSpPr>
        <p:spPr>
          <a:xfrm>
            <a:off x="6364224" y="4773168"/>
            <a:ext cx="219456" cy="219456"/>
          </a:xfrm>
          <a:prstGeom prst="ellipse">
            <a:avLst/>
          </a:prstGeom>
          <a:solidFill>
            <a:srgbClr val="2ECC34"/>
          </a:solidFill>
          <a:ln/>
        </p:spPr>
      </p:sp>
      <p:sp>
        <p:nvSpPr>
          <p:cNvPr id="35" name="Text 33"/>
          <p:cNvSpPr txBox="1"/>
          <p:nvPr/>
        </p:nvSpPr>
        <p:spPr>
          <a:xfrm>
            <a:off x="6693408" y="4599432"/>
            <a:ext cx="4544568" cy="566928"/>
          </a:xfrm>
          <a:prstGeom prst="rect">
            <a:avLst/>
          </a:prstGeom>
          <a:noFill/>
          <a:ln/>
        </p:spPr>
        <p:txBody>
          <a:bodyPr wrap="square" lIns="0" tIns="0" rIns="0" bIns="0" rtlCol="0" anchor="ctr"/>
          <a:lstStyle/>
          <a:p>
            <a:pPr indent="0" marL="0">
              <a:buNone/>
            </a:pPr>
            <a:r>
              <a:rPr lang="en-US" sz="1400" dirty="0">
                <a:solidFill>
                  <a:srgbClr val="2A2E33"/>
                </a:solidFill>
                <a:latin typeface="Calibri" pitchFamily="34" charset="0"/>
                <a:ea typeface="Calibri" pitchFamily="34" charset="-122"/>
                <a:cs typeface="Calibri" pitchFamily="34" charset="-120"/>
              </a:rPr>
              <a:t>10. Bankruptcy?</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4600" b="1" dirty="0">
                <a:solidFill>
                  <a:srgbClr val="0A0A0C"/>
                </a:solidFill>
                <a:latin typeface="Arial" pitchFamily="34" charset="0"/>
                <a:ea typeface="Arial" pitchFamily="34" charset="-122"/>
                <a:cs typeface="Arial" pitchFamily="34" charset="-120"/>
              </a:rPr>
              <a:t>Not eligible.</a:t>
            </a:r>
            <a:endParaRPr lang="en-US" sz="4600" dirty="0"/>
          </a:p>
          <a:p>
            <a:pPr indent="0" marL="0">
              <a:lnSpc>
                <a:spcPts val="6400"/>
              </a:lnSpc>
              <a:buNone/>
            </a:pPr>
            <a:r>
              <a:rPr lang="en-US" sz="4600" b="1" dirty="0">
                <a:solidFill>
                  <a:srgbClr val="0A0A0C"/>
                </a:solidFill>
                <a:latin typeface="Arial" pitchFamily="34" charset="0"/>
                <a:ea typeface="Arial" pitchFamily="34" charset="-122"/>
                <a:cs typeface="Arial" pitchFamily="34" charset="-120"/>
              </a:rPr>
              <a:t>And now you know exactly why.</a:t>
            </a:r>
            <a:endParaRPr lang="en-US" sz="4600" dirty="0"/>
          </a:p>
        </p:txBody>
      </p:sp>
      <p:sp>
        <p:nvSpPr>
          <p:cNvPr id="6" name="Text 4"/>
          <p:cNvSpPr txBox="1"/>
          <p:nvPr/>
        </p:nvSpPr>
        <p:spPr>
          <a:xfrm>
            <a:off x="777240" y="4114800"/>
            <a:ext cx="10607040" cy="1005840"/>
          </a:xfrm>
          <a:prstGeom prst="rect">
            <a:avLst/>
          </a:prstGeom>
          <a:noFill/>
          <a:ln/>
        </p:spPr>
        <p:txBody>
          <a:bodyPr wrap="square" lIns="0" tIns="0" rIns="0" bIns="0" rtlCol="0" anchor="ctr"/>
          <a:lstStyle/>
          <a:p>
            <a:pPr indent="0" marL="0">
              <a:buNone/>
            </a:pPr>
            <a:r>
              <a:rPr lang="en-US" sz="2600" dirty="0">
                <a:solidFill>
                  <a:srgbClr val="2A2E33"/>
                </a:solidFill>
                <a:latin typeface="Calibri" pitchFamily="34" charset="0"/>
                <a:ea typeface="Calibri" pitchFamily="34" charset="-122"/>
                <a:cs typeface="Calibri" pitchFamily="34" charset="-120"/>
              </a:rPr>
              <a:t>Not "your credit is bad." Four specific lines.</a:t>
            </a:r>
            <a:endParaRPr lang="en-US"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822960"/>
          </a:xfrm>
          <a:prstGeom prst="rect">
            <a:avLst/>
          </a:prstGeom>
          <a:noFill/>
          <a:ln/>
        </p:spPr>
        <p:txBody>
          <a:bodyPr wrap="square" lIns="0" tIns="0" rIns="0" bIns="0" rtlCol="0" anchor="ctr"/>
          <a:lstStyle/>
          <a:p>
            <a:pPr algn="l" indent="0" marL="0">
              <a:lnSpc>
                <a:spcPts val="5200"/>
              </a:lnSpc>
              <a:buNone/>
            </a:pPr>
            <a:r>
              <a:rPr lang="en-US" sz="4200" b="1" dirty="0">
                <a:solidFill>
                  <a:srgbClr val="FFFFFF"/>
                </a:solidFill>
                <a:latin typeface="Arial" pitchFamily="34" charset="0"/>
                <a:ea typeface="Arial" pitchFamily="34" charset="-122"/>
                <a:cs typeface="Arial" pitchFamily="34" charset="-120"/>
              </a:rPr>
              <a:t>WHAT GREEN LOOKS LIKE</a:t>
            </a:r>
            <a:endParaRPr lang="en-US" sz="4200" dirty="0"/>
          </a:p>
        </p:txBody>
      </p:sp>
      <p:sp>
        <p:nvSpPr>
          <p:cNvPr id="6" name="Shape 4"/>
          <p:cNvSpPr/>
          <p:nvPr/>
        </p:nvSpPr>
        <p:spPr>
          <a:xfrm>
            <a:off x="777240" y="2651760"/>
            <a:ext cx="2487168" cy="1828800"/>
          </a:xfrm>
          <a:prstGeom prst="roundRect">
            <a:avLst>
              <a:gd name="adj" fmla="val 6000"/>
            </a:avLst>
          </a:prstGeom>
          <a:solidFill>
            <a:srgbClr val="16181C"/>
          </a:solidFill>
          <a:ln w="25400">
            <a:solidFill>
              <a:srgbClr val="2ECC34"/>
            </a:solidFill>
            <a:prstDash val="solid"/>
          </a:ln>
        </p:spPr>
      </p:sp>
      <p:sp>
        <p:nvSpPr>
          <p:cNvPr id="7" name="Text 5"/>
          <p:cNvSpPr txBox="1"/>
          <p:nvPr/>
        </p:nvSpPr>
        <p:spPr>
          <a:xfrm>
            <a:off x="777240" y="2880360"/>
            <a:ext cx="2487168" cy="914400"/>
          </a:xfrm>
          <a:prstGeom prst="rect">
            <a:avLst/>
          </a:prstGeom>
          <a:noFill/>
          <a:ln/>
        </p:spPr>
        <p:txBody>
          <a:bodyPr wrap="square" lIns="0" tIns="0" rIns="0" bIns="0" rtlCol="0" anchor="ctr"/>
          <a:lstStyle/>
          <a:p>
            <a:pPr algn="ctr" indent="0" marL="0">
              <a:buNone/>
            </a:pPr>
            <a:r>
              <a:rPr lang="en-US" sz="5400" b="1" dirty="0">
                <a:solidFill>
                  <a:srgbClr val="2ECC34"/>
                </a:solidFill>
                <a:latin typeface="Arial" pitchFamily="34" charset="0"/>
                <a:ea typeface="Arial" pitchFamily="34" charset="-122"/>
                <a:cs typeface="Arial" pitchFamily="34" charset="-120"/>
              </a:rPr>
              <a:t>1</a:t>
            </a:r>
            <a:endParaRPr lang="en-US" sz="5400" dirty="0"/>
          </a:p>
        </p:txBody>
      </p:sp>
      <p:sp>
        <p:nvSpPr>
          <p:cNvPr id="8" name="Text 6"/>
          <p:cNvSpPr txBox="1"/>
          <p:nvPr/>
        </p:nvSpPr>
        <p:spPr>
          <a:xfrm>
            <a:off x="777240" y="3840480"/>
            <a:ext cx="2487168" cy="457200"/>
          </a:xfrm>
          <a:prstGeom prst="rect">
            <a:avLst/>
          </a:prstGeom>
          <a:noFill/>
          <a:ln/>
        </p:spPr>
        <p:txBody>
          <a:bodyPr wrap="square" lIns="0" tIns="0" rIns="0" bIns="0" rtlCol="0" anchor="ctr"/>
          <a:lstStyle/>
          <a:p>
            <a:pPr algn="ctr" indent="0" marL="0">
              <a:buNone/>
            </a:pPr>
            <a:r>
              <a:rPr lang="en-US" sz="1300" b="1" spc="200" kern="0" dirty="0">
                <a:solidFill>
                  <a:srgbClr val="AEB6BF"/>
                </a:solidFill>
                <a:latin typeface="Arial" pitchFamily="34" charset="0"/>
                <a:ea typeface="Arial" pitchFamily="34" charset="-122"/>
                <a:cs typeface="Arial" pitchFamily="34" charset="-120"/>
              </a:rPr>
              <a:t>INQUIRY</a:t>
            </a:r>
            <a:endParaRPr lang="en-US" sz="1300" dirty="0"/>
          </a:p>
        </p:txBody>
      </p:sp>
      <p:sp>
        <p:nvSpPr>
          <p:cNvPr id="9" name="Shape 7"/>
          <p:cNvSpPr/>
          <p:nvPr/>
        </p:nvSpPr>
        <p:spPr>
          <a:xfrm>
            <a:off x="3429000" y="2651760"/>
            <a:ext cx="2487168" cy="1828800"/>
          </a:xfrm>
          <a:prstGeom prst="roundRect">
            <a:avLst>
              <a:gd name="adj" fmla="val 6000"/>
            </a:avLst>
          </a:prstGeom>
          <a:solidFill>
            <a:srgbClr val="16181C"/>
          </a:solidFill>
          <a:ln w="25400">
            <a:solidFill>
              <a:srgbClr val="2ECC34"/>
            </a:solidFill>
            <a:prstDash val="solid"/>
          </a:ln>
        </p:spPr>
      </p:sp>
      <p:sp>
        <p:nvSpPr>
          <p:cNvPr id="10" name="Text 8"/>
          <p:cNvSpPr txBox="1"/>
          <p:nvPr/>
        </p:nvSpPr>
        <p:spPr>
          <a:xfrm>
            <a:off x="3429000" y="2880360"/>
            <a:ext cx="2487168" cy="914400"/>
          </a:xfrm>
          <a:prstGeom prst="rect">
            <a:avLst/>
          </a:prstGeom>
          <a:noFill/>
          <a:ln/>
        </p:spPr>
        <p:txBody>
          <a:bodyPr wrap="square" lIns="0" tIns="0" rIns="0" bIns="0" rtlCol="0" anchor="ctr"/>
          <a:lstStyle/>
          <a:p>
            <a:pPr algn="ctr" indent="0" marL="0">
              <a:buNone/>
            </a:pPr>
            <a:r>
              <a:rPr lang="en-US" sz="5400" b="1" dirty="0">
                <a:solidFill>
                  <a:srgbClr val="2ECC34"/>
                </a:solidFill>
                <a:latin typeface="Arial" pitchFamily="34" charset="0"/>
                <a:ea typeface="Arial" pitchFamily="34" charset="-122"/>
                <a:cs typeface="Arial" pitchFamily="34" charset="-120"/>
              </a:rPr>
              <a:t>0</a:t>
            </a:r>
            <a:endParaRPr lang="en-US" sz="5400" dirty="0"/>
          </a:p>
        </p:txBody>
      </p:sp>
      <p:sp>
        <p:nvSpPr>
          <p:cNvPr id="11" name="Text 9"/>
          <p:cNvSpPr txBox="1"/>
          <p:nvPr/>
        </p:nvSpPr>
        <p:spPr>
          <a:xfrm>
            <a:off x="3429000" y="3840480"/>
            <a:ext cx="2487168" cy="457200"/>
          </a:xfrm>
          <a:prstGeom prst="rect">
            <a:avLst/>
          </a:prstGeom>
          <a:noFill/>
          <a:ln/>
        </p:spPr>
        <p:txBody>
          <a:bodyPr wrap="square" lIns="0" tIns="0" rIns="0" bIns="0" rtlCol="0" anchor="ctr"/>
          <a:lstStyle/>
          <a:p>
            <a:pPr algn="ctr" indent="0" marL="0">
              <a:buNone/>
            </a:pPr>
            <a:r>
              <a:rPr lang="en-US" sz="1300" b="1" spc="200" kern="0" dirty="0">
                <a:solidFill>
                  <a:srgbClr val="AEB6BF"/>
                </a:solidFill>
                <a:latin typeface="Arial" pitchFamily="34" charset="0"/>
                <a:ea typeface="Arial" pitchFamily="34" charset="-122"/>
                <a:cs typeface="Arial" pitchFamily="34" charset="-120"/>
              </a:rPr>
              <a:t>COLLECTIONS</a:t>
            </a:r>
            <a:endParaRPr lang="en-US" sz="1300" dirty="0"/>
          </a:p>
        </p:txBody>
      </p:sp>
      <p:sp>
        <p:nvSpPr>
          <p:cNvPr id="12" name="Shape 10"/>
          <p:cNvSpPr/>
          <p:nvPr/>
        </p:nvSpPr>
        <p:spPr>
          <a:xfrm>
            <a:off x="6080760" y="2651760"/>
            <a:ext cx="2487168" cy="1828800"/>
          </a:xfrm>
          <a:prstGeom prst="roundRect">
            <a:avLst>
              <a:gd name="adj" fmla="val 6000"/>
            </a:avLst>
          </a:prstGeom>
          <a:solidFill>
            <a:srgbClr val="16181C"/>
          </a:solidFill>
          <a:ln w="25400">
            <a:solidFill>
              <a:srgbClr val="2ECC34"/>
            </a:solidFill>
            <a:prstDash val="solid"/>
          </a:ln>
        </p:spPr>
      </p:sp>
      <p:sp>
        <p:nvSpPr>
          <p:cNvPr id="13" name="Text 11"/>
          <p:cNvSpPr txBox="1"/>
          <p:nvPr/>
        </p:nvSpPr>
        <p:spPr>
          <a:xfrm>
            <a:off x="6080760" y="2880360"/>
            <a:ext cx="2487168" cy="914400"/>
          </a:xfrm>
          <a:prstGeom prst="rect">
            <a:avLst/>
          </a:prstGeom>
          <a:noFill/>
          <a:ln/>
        </p:spPr>
        <p:txBody>
          <a:bodyPr wrap="square" lIns="0" tIns="0" rIns="0" bIns="0" rtlCol="0" anchor="ctr"/>
          <a:lstStyle/>
          <a:p>
            <a:pPr algn="ctr" indent="0" marL="0">
              <a:buNone/>
            </a:pPr>
            <a:r>
              <a:rPr lang="en-US" sz="5400" b="1" dirty="0">
                <a:solidFill>
                  <a:srgbClr val="2ECC34"/>
                </a:solidFill>
                <a:latin typeface="Arial" pitchFamily="34" charset="0"/>
                <a:ea typeface="Arial" pitchFamily="34" charset="-122"/>
                <a:cs typeface="Arial" pitchFamily="34" charset="-120"/>
              </a:rPr>
              <a:t>2%</a:t>
            </a:r>
            <a:endParaRPr lang="en-US" sz="5400" dirty="0"/>
          </a:p>
        </p:txBody>
      </p:sp>
      <p:sp>
        <p:nvSpPr>
          <p:cNvPr id="14" name="Text 12"/>
          <p:cNvSpPr txBox="1"/>
          <p:nvPr/>
        </p:nvSpPr>
        <p:spPr>
          <a:xfrm>
            <a:off x="6080760" y="3840480"/>
            <a:ext cx="2487168" cy="457200"/>
          </a:xfrm>
          <a:prstGeom prst="rect">
            <a:avLst/>
          </a:prstGeom>
          <a:noFill/>
          <a:ln/>
        </p:spPr>
        <p:txBody>
          <a:bodyPr wrap="square" lIns="0" tIns="0" rIns="0" bIns="0" rtlCol="0" anchor="ctr"/>
          <a:lstStyle/>
          <a:p>
            <a:pPr algn="ctr" indent="0" marL="0">
              <a:buNone/>
            </a:pPr>
            <a:r>
              <a:rPr lang="en-US" sz="1300" b="1" spc="200" kern="0" dirty="0">
                <a:solidFill>
                  <a:srgbClr val="AEB6BF"/>
                </a:solidFill>
                <a:latin typeface="Arial" pitchFamily="34" charset="0"/>
                <a:ea typeface="Arial" pitchFamily="34" charset="-122"/>
                <a:cs typeface="Arial" pitchFamily="34" charset="-120"/>
              </a:rPr>
              <a:t>UTILIZATION</a:t>
            </a:r>
            <a:endParaRPr lang="en-US" sz="1300" dirty="0"/>
          </a:p>
        </p:txBody>
      </p:sp>
      <p:sp>
        <p:nvSpPr>
          <p:cNvPr id="15" name="Shape 13"/>
          <p:cNvSpPr/>
          <p:nvPr/>
        </p:nvSpPr>
        <p:spPr>
          <a:xfrm>
            <a:off x="8732520" y="2651760"/>
            <a:ext cx="2487168" cy="1828800"/>
          </a:xfrm>
          <a:prstGeom prst="roundRect">
            <a:avLst>
              <a:gd name="adj" fmla="val 6000"/>
            </a:avLst>
          </a:prstGeom>
          <a:solidFill>
            <a:srgbClr val="16181C"/>
          </a:solidFill>
          <a:ln w="25400">
            <a:solidFill>
              <a:srgbClr val="2ECC34"/>
            </a:solidFill>
            <a:prstDash val="solid"/>
          </a:ln>
        </p:spPr>
      </p:sp>
      <p:sp>
        <p:nvSpPr>
          <p:cNvPr id="16" name="Text 14"/>
          <p:cNvSpPr txBox="1"/>
          <p:nvPr/>
        </p:nvSpPr>
        <p:spPr>
          <a:xfrm>
            <a:off x="8732520" y="2880360"/>
            <a:ext cx="2487168" cy="914400"/>
          </a:xfrm>
          <a:prstGeom prst="rect">
            <a:avLst/>
          </a:prstGeom>
          <a:noFill/>
          <a:ln/>
        </p:spPr>
        <p:txBody>
          <a:bodyPr wrap="square" lIns="0" tIns="0" rIns="0" bIns="0" rtlCol="0" anchor="ctr"/>
          <a:lstStyle/>
          <a:p>
            <a:pPr algn="ctr" indent="0" marL="0">
              <a:buNone/>
            </a:pPr>
            <a:r>
              <a:rPr lang="en-US" sz="5400" b="1" dirty="0">
                <a:solidFill>
                  <a:srgbClr val="2ECC34"/>
                </a:solidFill>
                <a:latin typeface="Arial" pitchFamily="34" charset="0"/>
                <a:ea typeface="Arial" pitchFamily="34" charset="-122"/>
                <a:cs typeface="Arial" pitchFamily="34" charset="-120"/>
              </a:rPr>
              <a:t>10/10</a:t>
            </a:r>
            <a:endParaRPr lang="en-US" sz="5400" dirty="0"/>
          </a:p>
        </p:txBody>
      </p:sp>
      <p:sp>
        <p:nvSpPr>
          <p:cNvPr id="17" name="Text 15"/>
          <p:cNvSpPr txBox="1"/>
          <p:nvPr/>
        </p:nvSpPr>
        <p:spPr>
          <a:xfrm>
            <a:off x="8732520" y="3840480"/>
            <a:ext cx="2487168" cy="457200"/>
          </a:xfrm>
          <a:prstGeom prst="rect">
            <a:avLst/>
          </a:prstGeom>
          <a:noFill/>
          <a:ln/>
        </p:spPr>
        <p:txBody>
          <a:bodyPr wrap="square" lIns="0" tIns="0" rIns="0" bIns="0" rtlCol="0" anchor="ctr"/>
          <a:lstStyle/>
          <a:p>
            <a:pPr algn="ctr" indent="0" marL="0">
              <a:buNone/>
            </a:pPr>
            <a:r>
              <a:rPr lang="en-US" sz="1300" b="1" spc="200" kern="0" dirty="0">
                <a:solidFill>
                  <a:srgbClr val="AEB6BF"/>
                </a:solidFill>
                <a:latin typeface="Arial" pitchFamily="34" charset="0"/>
                <a:ea typeface="Arial" pitchFamily="34" charset="-122"/>
                <a:cs typeface="Arial" pitchFamily="34" charset="-120"/>
              </a:rPr>
              <a:t>GREEN LINES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you want your</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file to look like that.</a:t>
            </a:r>
            <a:endParaRPr lang="en-US" sz="4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4600" b="1" dirty="0">
                <a:solidFill>
                  <a:srgbClr val="0A0A0C"/>
                </a:solidFill>
                <a:latin typeface="Arial" pitchFamily="34" charset="0"/>
                <a:ea typeface="Arial" pitchFamily="34" charset="-122"/>
                <a:cs typeface="Arial" pitchFamily="34" charset="-120"/>
              </a:rPr>
              <a:t>The software does all of this</a:t>
            </a:r>
            <a:endParaRPr lang="en-US" sz="4600" dirty="0"/>
          </a:p>
          <a:p>
            <a:pPr indent="0" marL="0">
              <a:lnSpc>
                <a:spcPts val="6400"/>
              </a:lnSpc>
              <a:buNone/>
            </a:pPr>
            <a:r>
              <a:rPr lang="en-US" sz="4600" b="1" dirty="0">
                <a:solidFill>
                  <a:srgbClr val="0A0A0C"/>
                </a:solidFill>
                <a:latin typeface="Arial" pitchFamily="34" charset="0"/>
                <a:ea typeface="Arial" pitchFamily="34" charset="-122"/>
                <a:cs typeface="Arial" pitchFamily="34" charset="-120"/>
              </a:rPr>
              <a:t>in about a minute.</a:t>
            </a:r>
            <a:endParaRPr lang="en-US" sz="4600" dirty="0"/>
          </a:p>
        </p:txBody>
      </p:sp>
      <p:sp>
        <p:nvSpPr>
          <p:cNvPr id="6" name="Text 4"/>
          <p:cNvSpPr txBox="1"/>
          <p:nvPr/>
        </p:nvSpPr>
        <p:spPr>
          <a:xfrm>
            <a:off x="777240" y="4114800"/>
            <a:ext cx="10607040" cy="1005840"/>
          </a:xfrm>
          <a:prstGeom prst="rect">
            <a:avLst/>
          </a:prstGeom>
          <a:noFill/>
          <a:ln/>
        </p:spPr>
        <p:txBody>
          <a:bodyPr wrap="square" lIns="0" tIns="0" rIns="0" bIns="0" rtlCol="0" anchor="ctr"/>
          <a:lstStyle/>
          <a:p>
            <a:pPr indent="0" marL="0">
              <a:buNone/>
            </a:pPr>
            <a:r>
              <a:rPr lang="en-US" sz="2600" dirty="0">
                <a:solidFill>
                  <a:srgbClr val="2A2E33"/>
                </a:solidFill>
                <a:latin typeface="Calibri" pitchFamily="34" charset="0"/>
                <a:ea typeface="Calibri" pitchFamily="34" charset="-122"/>
                <a:cs typeface="Calibri" pitchFamily="34" charset="-120"/>
              </a:rPr>
              <a:t>And that's only one of six things people use it for.</a:t>
            </a:r>
            <a:endParaRPr lang="en-US" sz="2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777240" y="2103120"/>
            <a:ext cx="155448" cy="155448"/>
          </a:xfrm>
          <a:prstGeom prst="ellipse">
            <a:avLst/>
          </a:prstGeom>
          <a:solidFill>
            <a:srgbClr val="D61A20"/>
          </a:solidFill>
          <a:ln/>
        </p:spPr>
      </p:sp>
      <p:sp>
        <p:nvSpPr>
          <p:cNvPr id="3" name="Shape 1"/>
          <p:cNvSpPr/>
          <p:nvPr/>
        </p:nvSpPr>
        <p:spPr>
          <a:xfrm>
            <a:off x="1033272" y="2103120"/>
            <a:ext cx="155448" cy="155448"/>
          </a:xfrm>
          <a:prstGeom prst="ellipse">
            <a:avLst/>
          </a:prstGeom>
          <a:solidFill>
            <a:srgbClr val="D6A83A"/>
          </a:solidFill>
          <a:ln/>
        </p:spPr>
      </p:sp>
      <p:sp>
        <p:nvSpPr>
          <p:cNvPr id="4" name="Shape 2"/>
          <p:cNvSpPr/>
          <p:nvPr/>
        </p:nvSpPr>
        <p:spPr>
          <a:xfrm>
            <a:off x="1289304" y="2103120"/>
            <a:ext cx="155448" cy="155448"/>
          </a:xfrm>
          <a:prstGeom prst="ellipse">
            <a:avLst/>
          </a:prstGeom>
          <a:solidFill>
            <a:srgbClr val="2ECC34"/>
          </a:solidFill>
          <a:ln/>
        </p:spPr>
      </p:sp>
      <p:sp>
        <p:nvSpPr>
          <p:cNvPr id="5" name="Text 3"/>
          <p:cNvSpPr txBox="1"/>
          <p:nvPr/>
        </p:nvSpPr>
        <p:spPr>
          <a:xfrm>
            <a:off x="777240" y="2514600"/>
            <a:ext cx="10607040" cy="1463040"/>
          </a:xfrm>
          <a:prstGeom prst="rect">
            <a:avLst/>
          </a:prstGeom>
          <a:noFill/>
          <a:ln/>
        </p:spPr>
        <p:txBody>
          <a:bodyPr wrap="square" lIns="0" tIns="0" rIns="0" bIns="0" rtlCol="0" anchor="ctr"/>
          <a:lstStyle/>
          <a:p>
            <a:pPr indent="0" marL="0">
              <a:buNone/>
            </a:pPr>
            <a:r>
              <a:rPr lang="en-US" sz="5600" b="1" dirty="0">
                <a:solidFill>
                  <a:srgbClr val="FFFFFF"/>
                </a:solidFill>
                <a:latin typeface="Arial" pitchFamily="34" charset="0"/>
                <a:ea typeface="Arial" pitchFamily="34" charset="-122"/>
                <a:cs typeface="Arial" pitchFamily="34" charset="-120"/>
              </a:rPr>
              <a:t>SIX WAYS PEOPLE USE THIS</a:t>
            </a:r>
            <a:endParaRPr lang="en-US" sz="5600" dirty="0"/>
          </a:p>
        </p:txBody>
      </p:sp>
      <p:sp>
        <p:nvSpPr>
          <p:cNvPr id="6" name="Text 4"/>
          <p:cNvSpPr txBox="1"/>
          <p:nvPr/>
        </p:nvSpPr>
        <p:spPr>
          <a:xfrm>
            <a:off x="777240" y="4023360"/>
            <a:ext cx="10607040" cy="731520"/>
          </a:xfrm>
          <a:prstGeom prst="rect">
            <a:avLst/>
          </a:prstGeom>
          <a:noFill/>
          <a:ln/>
        </p:spPr>
        <p:txBody>
          <a:bodyPr wrap="square" lIns="0" tIns="0" rIns="0" bIns="0" rtlCol="0" anchor="ctr"/>
          <a:lstStyle/>
          <a:p>
            <a:pPr indent="0" marL="0">
              <a:buNone/>
            </a:pPr>
            <a:r>
              <a:rPr lang="en-US" sz="2400" dirty="0">
                <a:solidFill>
                  <a:srgbClr val="AEB6BF"/>
                </a:solidFill>
                <a:latin typeface="Calibri" pitchFamily="34" charset="0"/>
                <a:ea typeface="Calibri" pitchFamily="34" charset="-122"/>
                <a:cs typeface="Calibri" pitchFamily="34" charset="-120"/>
              </a:rPr>
              <a:t>Three on yourself. Three to get paid.</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500" b="1" dirty="0">
                <a:solidFill>
                  <a:srgbClr val="FFFFFF"/>
                </a:solidFill>
                <a:latin typeface="Arial" pitchFamily="34" charset="0"/>
                <a:ea typeface="Arial" pitchFamily="34" charset="-122"/>
                <a:cs typeface="Arial" pitchFamily="34" charset="-120"/>
              </a:rPr>
              <a:t>Type the number you came</a:t>
            </a:r>
            <a:endParaRPr lang="en-US" sz="4500" dirty="0"/>
          </a:p>
          <a:p>
            <a:pPr indent="0" marL="0">
              <a:lnSpc>
                <a:spcPts val="5600"/>
              </a:lnSpc>
              <a:buNone/>
            </a:pPr>
            <a:r>
              <a:rPr lang="en-US" sz="4500" b="1" dirty="0">
                <a:solidFill>
                  <a:srgbClr val="FFFFFF"/>
                </a:solidFill>
                <a:latin typeface="Arial" pitchFamily="34" charset="0"/>
                <a:ea typeface="Arial" pitchFamily="34" charset="-122"/>
                <a:cs typeface="Arial" pitchFamily="34" charset="-120"/>
              </a:rPr>
              <a:t>here for tonight — 1, 2, or 3.</a:t>
            </a:r>
            <a:endParaRPr lang="en-US" sz="4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777240" y="2103120"/>
            <a:ext cx="155448" cy="155448"/>
          </a:xfrm>
          <a:prstGeom prst="ellipse">
            <a:avLst/>
          </a:prstGeom>
          <a:solidFill>
            <a:srgbClr val="D61A20"/>
          </a:solidFill>
          <a:ln/>
        </p:spPr>
      </p:sp>
      <p:sp>
        <p:nvSpPr>
          <p:cNvPr id="3" name="Shape 1"/>
          <p:cNvSpPr/>
          <p:nvPr/>
        </p:nvSpPr>
        <p:spPr>
          <a:xfrm>
            <a:off x="1033272" y="2103120"/>
            <a:ext cx="155448" cy="155448"/>
          </a:xfrm>
          <a:prstGeom prst="ellipse">
            <a:avLst/>
          </a:prstGeom>
          <a:solidFill>
            <a:srgbClr val="D6A83A"/>
          </a:solidFill>
          <a:ln/>
        </p:spPr>
      </p:sp>
      <p:sp>
        <p:nvSpPr>
          <p:cNvPr id="4" name="Shape 2"/>
          <p:cNvSpPr/>
          <p:nvPr/>
        </p:nvSpPr>
        <p:spPr>
          <a:xfrm>
            <a:off x="1289304" y="2103120"/>
            <a:ext cx="155448" cy="155448"/>
          </a:xfrm>
          <a:prstGeom prst="ellipse">
            <a:avLst/>
          </a:prstGeom>
          <a:solidFill>
            <a:srgbClr val="2ECC34"/>
          </a:solidFill>
          <a:ln/>
        </p:spPr>
      </p:sp>
      <p:sp>
        <p:nvSpPr>
          <p:cNvPr id="5" name="Text 3"/>
          <p:cNvSpPr txBox="1"/>
          <p:nvPr/>
        </p:nvSpPr>
        <p:spPr>
          <a:xfrm>
            <a:off x="777240" y="2514600"/>
            <a:ext cx="10607040" cy="1463040"/>
          </a:xfrm>
          <a:prstGeom prst="rect">
            <a:avLst/>
          </a:prstGeom>
          <a:noFill/>
          <a:ln/>
        </p:spPr>
        <p:txBody>
          <a:bodyPr wrap="square" lIns="0" tIns="0" rIns="0" bIns="0" rtlCol="0" anchor="ctr"/>
          <a:lstStyle/>
          <a:p>
            <a:pPr indent="0" marL="0">
              <a:buNone/>
            </a:pPr>
            <a:r>
              <a:rPr lang="en-US" sz="5100" b="1" dirty="0">
                <a:solidFill>
                  <a:srgbClr val="FFFFFF"/>
                </a:solidFill>
                <a:latin typeface="Arial" pitchFamily="34" charset="0"/>
                <a:ea typeface="Arial" pitchFamily="34" charset="-122"/>
                <a:cs typeface="Arial" pitchFamily="34" charset="-120"/>
              </a:rPr>
              <a:t>FIRST — USE IT ON YOURSELF</a:t>
            </a:r>
            <a:endParaRPr lang="en-US" sz="5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1 · ANALYZE YOUR PROFILE</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Know your factors — not just your score</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What is actually on all three bureaus</a:t>
            </a:r>
            <a:endParaRPr lang="en-US" sz="2100" dirty="0"/>
          </a:p>
        </p:txBody>
      </p:sp>
      <p:sp>
        <p:nvSpPr>
          <p:cNvPr id="10" name="Shape 8"/>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1" name="Text 9"/>
          <p:cNvSpPr txBox="1"/>
          <p:nvPr/>
        </p:nvSpPr>
        <p:spPr>
          <a:xfrm>
            <a:off x="1161288" y="4142232"/>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What is helping and what is holding you back</a:t>
            </a:r>
            <a:endParaRPr lang="en-US" sz="2100" dirty="0"/>
          </a:p>
        </p:txBody>
      </p:sp>
      <p:sp>
        <p:nvSpPr>
          <p:cNvPr id="12" name="Shape 10"/>
          <p:cNvSpPr/>
          <p:nvPr/>
        </p:nvSpPr>
        <p:spPr>
          <a:xfrm>
            <a:off x="777240" y="5047488"/>
            <a:ext cx="10607040" cy="777240"/>
          </a:xfrm>
          <a:prstGeom prst="roundRect">
            <a:avLst>
              <a:gd name="adj" fmla="val 11765"/>
            </a:avLst>
          </a:prstGeom>
          <a:solidFill>
            <a:srgbClr val="FFFFFF"/>
          </a:solidFill>
          <a:ln w="12700">
            <a:solidFill>
              <a:srgbClr val="DFE3E7"/>
            </a:solidFill>
            <a:prstDash val="solid"/>
          </a:ln>
        </p:spPr>
      </p:sp>
      <p:sp>
        <p:nvSpPr>
          <p:cNvPr id="13" name="Text 11"/>
          <p:cNvSpPr txBox="1"/>
          <p:nvPr/>
        </p:nvSpPr>
        <p:spPr>
          <a:xfrm>
            <a:off x="1161288" y="5047488"/>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Whether you should apply at all</a:t>
            </a:r>
            <a:endParaRPr lang="en-US" sz="2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2 · IMPROVE YOUR PROFILE</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Dispute with the latest AI</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Custom letters written per account — not templates</a:t>
            </a:r>
            <a:endParaRPr lang="en-US" sz="2100" dirty="0"/>
          </a:p>
        </p:txBody>
      </p:sp>
      <p:sp>
        <p:nvSpPr>
          <p:cNvPr id="10" name="Shape 8"/>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1" name="Text 9"/>
          <p:cNvSpPr txBox="1"/>
          <p:nvPr/>
        </p:nvSpPr>
        <p:spPr>
          <a:xfrm>
            <a:off x="1161288" y="4142232"/>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Printed and mailed for you</a:t>
            </a:r>
            <a:endParaRPr lang="en-US" sz="2100" dirty="0"/>
          </a:p>
        </p:txBody>
      </p:sp>
      <p:sp>
        <p:nvSpPr>
          <p:cNvPr id="12" name="Shape 10"/>
          <p:cNvSpPr/>
          <p:nvPr/>
        </p:nvSpPr>
        <p:spPr>
          <a:xfrm>
            <a:off x="777240" y="5047488"/>
            <a:ext cx="10607040" cy="777240"/>
          </a:xfrm>
          <a:prstGeom prst="roundRect">
            <a:avLst>
              <a:gd name="adj" fmla="val 11765"/>
            </a:avLst>
          </a:prstGeom>
          <a:solidFill>
            <a:srgbClr val="FFFFFF"/>
          </a:solidFill>
          <a:ln w="12700">
            <a:solidFill>
              <a:srgbClr val="DFE3E7"/>
            </a:solidFill>
            <a:prstDash val="solid"/>
          </a:ln>
        </p:spPr>
      </p:sp>
      <p:sp>
        <p:nvSpPr>
          <p:cNvPr id="13" name="Text 11"/>
          <p:cNvSpPr txBox="1"/>
          <p:nvPr/>
        </p:nvSpPr>
        <p:spPr>
          <a:xfrm>
            <a:off x="1161288" y="5047488"/>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Every removal tracked</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3 · KNOW WHERE TO APPLY</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Which banks</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Which bureau they pull</a:t>
            </a:r>
            <a:endParaRPr lang="en-US" sz="2100" dirty="0"/>
          </a:p>
        </p:txBody>
      </p:sp>
      <p:sp>
        <p:nvSpPr>
          <p:cNvPr id="10" name="Shape 8"/>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1" name="Text 9"/>
          <p:cNvSpPr txBox="1"/>
          <p:nvPr/>
        </p:nvSpPr>
        <p:spPr>
          <a:xfrm>
            <a:off x="1161288" y="4142232"/>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What order to apply in</a:t>
            </a:r>
            <a:endParaRPr lang="en-US" sz="2100" dirty="0"/>
          </a:p>
        </p:txBody>
      </p:sp>
      <p:sp>
        <p:nvSpPr>
          <p:cNvPr id="12" name="Shape 10"/>
          <p:cNvSpPr/>
          <p:nvPr/>
        </p:nvSpPr>
        <p:spPr>
          <a:xfrm>
            <a:off x="777240" y="5047488"/>
            <a:ext cx="10607040" cy="777240"/>
          </a:xfrm>
          <a:prstGeom prst="roundRect">
            <a:avLst>
              <a:gd name="adj" fmla="val 11765"/>
            </a:avLst>
          </a:prstGeom>
          <a:solidFill>
            <a:srgbClr val="FFFFFF"/>
          </a:solidFill>
          <a:ln w="12700">
            <a:solidFill>
              <a:srgbClr val="DFE3E7"/>
            </a:solidFill>
            <a:prstDash val="solid"/>
          </a:ln>
        </p:spPr>
      </p:sp>
      <p:sp>
        <p:nvSpPr>
          <p:cNvPr id="13" name="Text 11"/>
          <p:cNvSpPr txBox="1"/>
          <p:nvPr/>
        </p:nvSpPr>
        <p:spPr>
          <a:xfrm>
            <a:off x="1161288" y="5047488"/>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Not "apply and hope"</a:t>
            </a:r>
            <a:endParaRPr lang="en-US" sz="2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4600" b="1" dirty="0">
                <a:solidFill>
                  <a:srgbClr val="FFFFFF"/>
                </a:solidFill>
                <a:latin typeface="Arial" pitchFamily="34" charset="0"/>
                <a:ea typeface="Arial" pitchFamily="34" charset="-122"/>
                <a:cs typeface="Arial" pitchFamily="34" charset="-120"/>
              </a:rPr>
              <a:t>Now — here's what most people</a:t>
            </a:r>
            <a:endParaRPr lang="en-US" sz="4600" dirty="0"/>
          </a:p>
          <a:p>
            <a:pPr indent="0" marL="0">
              <a:lnSpc>
                <a:spcPts val="6400"/>
              </a:lnSpc>
              <a:buNone/>
            </a:pPr>
            <a:r>
              <a:rPr lang="en-US" sz="4600" b="1" dirty="0">
                <a:solidFill>
                  <a:srgbClr val="FFFFFF"/>
                </a:solidFill>
                <a:latin typeface="Arial" pitchFamily="34" charset="0"/>
                <a:ea typeface="Arial" pitchFamily="34" charset="-122"/>
                <a:cs typeface="Arial" pitchFamily="34" charset="-120"/>
              </a:rPr>
              <a:t>in this room don't know.</a:t>
            </a:r>
            <a:endParaRPr lang="en-US" sz="4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777240" y="2103120"/>
            <a:ext cx="155448" cy="155448"/>
          </a:xfrm>
          <a:prstGeom prst="ellipse">
            <a:avLst/>
          </a:prstGeom>
          <a:solidFill>
            <a:srgbClr val="D61A20"/>
          </a:solidFill>
          <a:ln/>
        </p:spPr>
      </p:sp>
      <p:sp>
        <p:nvSpPr>
          <p:cNvPr id="3" name="Shape 1"/>
          <p:cNvSpPr/>
          <p:nvPr/>
        </p:nvSpPr>
        <p:spPr>
          <a:xfrm>
            <a:off x="1033272" y="2103120"/>
            <a:ext cx="155448" cy="155448"/>
          </a:xfrm>
          <a:prstGeom prst="ellipse">
            <a:avLst/>
          </a:prstGeom>
          <a:solidFill>
            <a:srgbClr val="D6A83A"/>
          </a:solidFill>
          <a:ln/>
        </p:spPr>
      </p:sp>
      <p:sp>
        <p:nvSpPr>
          <p:cNvPr id="4" name="Shape 2"/>
          <p:cNvSpPr/>
          <p:nvPr/>
        </p:nvSpPr>
        <p:spPr>
          <a:xfrm>
            <a:off x="1289304" y="2103120"/>
            <a:ext cx="155448" cy="155448"/>
          </a:xfrm>
          <a:prstGeom prst="ellipse">
            <a:avLst/>
          </a:prstGeom>
          <a:solidFill>
            <a:srgbClr val="2ECC34"/>
          </a:solidFill>
          <a:ln/>
        </p:spPr>
      </p:sp>
      <p:sp>
        <p:nvSpPr>
          <p:cNvPr id="5" name="Text 3"/>
          <p:cNvSpPr txBox="1"/>
          <p:nvPr/>
        </p:nvSpPr>
        <p:spPr>
          <a:xfrm>
            <a:off x="777240" y="2514600"/>
            <a:ext cx="10607040" cy="14630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THEN — USE IT TO GET PAID</a:t>
            </a:r>
            <a:endParaRPr lang="en-US" sz="5400" dirty="0"/>
          </a:p>
        </p:txBody>
      </p:sp>
      <p:sp>
        <p:nvSpPr>
          <p:cNvPr id="6" name="Text 4"/>
          <p:cNvSpPr txBox="1"/>
          <p:nvPr/>
        </p:nvSpPr>
        <p:spPr>
          <a:xfrm>
            <a:off x="777240" y="4023360"/>
            <a:ext cx="10607040" cy="731520"/>
          </a:xfrm>
          <a:prstGeom prst="rect">
            <a:avLst/>
          </a:prstGeom>
          <a:noFill/>
          <a:ln/>
        </p:spPr>
        <p:txBody>
          <a:bodyPr wrap="square" lIns="0" tIns="0" rIns="0" bIns="0" rtlCol="0" anchor="ctr"/>
          <a:lstStyle/>
          <a:p>
            <a:pPr indent="0" marL="0">
              <a:buNone/>
            </a:pPr>
            <a:r>
              <a:rPr lang="en-US" sz="2400" dirty="0">
                <a:solidFill>
                  <a:srgbClr val="AEB6BF"/>
                </a:solidFill>
                <a:latin typeface="Calibri" pitchFamily="34" charset="0"/>
                <a:ea typeface="Calibri" pitchFamily="34" charset="-122"/>
                <a:cs typeface="Calibri" pitchFamily="34" charset="-120"/>
              </a:rPr>
              <a:t>The same tool that fixes your file is a business.</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3900" b="1" dirty="0">
                <a:solidFill>
                  <a:srgbClr val="FFFFFF"/>
                </a:solidFill>
                <a:latin typeface="Arial" pitchFamily="34" charset="0"/>
                <a:ea typeface="Arial" pitchFamily="34" charset="-122"/>
                <a:cs typeface="Arial" pitchFamily="34" charset="-120"/>
              </a:rPr>
              <a:t>Type YES if you'd want to get paid</a:t>
            </a:r>
            <a:endParaRPr lang="en-US" sz="3900" dirty="0"/>
          </a:p>
          <a:p>
            <a:pPr indent="0" marL="0">
              <a:lnSpc>
                <a:spcPts val="5600"/>
              </a:lnSpc>
              <a:buNone/>
            </a:pPr>
            <a:r>
              <a:rPr lang="en-US" sz="3900" b="1" dirty="0">
                <a:solidFill>
                  <a:srgbClr val="FFFFFF"/>
                </a:solidFill>
                <a:latin typeface="Arial" pitchFamily="34" charset="0"/>
                <a:ea typeface="Arial" pitchFamily="34" charset="-122"/>
                <a:cs typeface="Arial" pitchFamily="34" charset="-120"/>
              </a:rPr>
              <a:t>doing this for other people.</a:t>
            </a:r>
            <a:endParaRPr lang="en-US" sz="3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3800" b="1" dirty="0">
                <a:solidFill>
                  <a:srgbClr val="0A0A0C"/>
                </a:solidFill>
                <a:latin typeface="Arial" pitchFamily="34" charset="0"/>
                <a:ea typeface="Arial" pitchFamily="34" charset="-122"/>
                <a:cs typeface="Arial" pitchFamily="34" charset="-120"/>
              </a:rPr>
              <a:t>4 · LAUNCH A CREDIT REPAIR BUSINESS</a:t>
            </a:r>
            <a:endParaRPr lang="en-US" sz="38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Pull a client's report</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Read their ten lines</a:t>
            </a:r>
            <a:endParaRPr lang="en-US" sz="2100" dirty="0"/>
          </a:p>
        </p:txBody>
      </p:sp>
      <p:sp>
        <p:nvSpPr>
          <p:cNvPr id="10" name="Shape 8"/>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1" name="Text 9"/>
          <p:cNvSpPr txBox="1"/>
          <p:nvPr/>
        </p:nvSpPr>
        <p:spPr>
          <a:xfrm>
            <a:off x="1161288" y="4142232"/>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Show them the red on their own screen</a:t>
            </a:r>
            <a:endParaRPr lang="en-US" sz="2100" dirty="0"/>
          </a:p>
        </p:txBody>
      </p:sp>
      <p:sp>
        <p:nvSpPr>
          <p:cNvPr id="12" name="Shape 10"/>
          <p:cNvSpPr/>
          <p:nvPr/>
        </p:nvSpPr>
        <p:spPr>
          <a:xfrm>
            <a:off x="777240" y="5047488"/>
            <a:ext cx="10607040" cy="777240"/>
          </a:xfrm>
          <a:prstGeom prst="roundRect">
            <a:avLst>
              <a:gd name="adj" fmla="val 11765"/>
            </a:avLst>
          </a:prstGeom>
          <a:solidFill>
            <a:srgbClr val="FFFFFF"/>
          </a:solidFill>
          <a:ln w="12700">
            <a:solidFill>
              <a:srgbClr val="DFE3E7"/>
            </a:solidFill>
            <a:prstDash val="solid"/>
          </a:ln>
        </p:spPr>
      </p:sp>
      <p:sp>
        <p:nvSpPr>
          <p:cNvPr id="13" name="Text 11"/>
          <p:cNvSpPr txBox="1"/>
          <p:nvPr/>
        </p:nvSpPr>
        <p:spPr>
          <a:xfrm>
            <a:off x="1161288" y="5047488"/>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Let the software write and mail the letters</a:t>
            </a:r>
            <a:endParaRPr lang="en-US" sz="2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5 · LAUNCH A FUNDING BUSINESS</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Qualify the client before you ever apply</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Know the banks, the bureaus, the order</a:t>
            </a:r>
            <a:endParaRPr lang="en-US" sz="2100" dirty="0"/>
          </a:p>
        </p:txBody>
      </p:sp>
      <p:sp>
        <p:nvSpPr>
          <p:cNvPr id="10" name="Shape 8"/>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1" name="Text 9"/>
          <p:cNvSpPr txBox="1"/>
          <p:nvPr/>
        </p:nvSpPr>
        <p:spPr>
          <a:xfrm>
            <a:off x="1161288" y="4142232"/>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Get paid a percentage of what you get funded</a:t>
            </a:r>
            <a:endParaRPr lang="en-US" sz="2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6 · REFER IT</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Your own referral link</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Share the software</a:t>
            </a:r>
            <a:endParaRPr lang="en-US" sz="2100" dirty="0"/>
          </a:p>
        </p:txBody>
      </p:sp>
      <p:sp>
        <p:nvSpPr>
          <p:cNvPr id="10" name="Shape 8"/>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1" name="Text 9"/>
          <p:cNvSpPr txBox="1"/>
          <p:nvPr/>
        </p:nvSpPr>
        <p:spPr>
          <a:xfrm>
            <a:off x="1161288" y="4142232"/>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Earn on it every month it stays active</a:t>
            </a:r>
            <a:endParaRPr lang="en-US" sz="2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ALL SIX. ONE LOGIN.</a:t>
            </a:r>
            <a:endParaRPr lang="en-US" sz="4000" dirty="0"/>
          </a:p>
        </p:txBody>
      </p:sp>
      <p:sp>
        <p:nvSpPr>
          <p:cNvPr id="6" name="Shape 4"/>
          <p:cNvSpPr/>
          <p:nvPr/>
        </p:nvSpPr>
        <p:spPr>
          <a:xfrm>
            <a:off x="777240" y="2331720"/>
            <a:ext cx="10607040" cy="513588"/>
          </a:xfrm>
          <a:prstGeom prst="roundRect">
            <a:avLst>
              <a:gd name="adj" fmla="val 17804"/>
            </a:avLst>
          </a:prstGeom>
          <a:solidFill>
            <a:srgbClr val="FFFFFF"/>
          </a:solidFill>
          <a:ln w="12700">
            <a:solidFill>
              <a:srgbClr val="DFE3E7"/>
            </a:solidFill>
            <a:prstDash val="solid"/>
          </a:ln>
        </p:spPr>
      </p:sp>
      <p:sp>
        <p:nvSpPr>
          <p:cNvPr id="7" name="Shape 5"/>
          <p:cNvSpPr/>
          <p:nvPr/>
        </p:nvSpPr>
        <p:spPr>
          <a:xfrm>
            <a:off x="996696" y="2404872"/>
            <a:ext cx="367284" cy="367284"/>
          </a:xfrm>
          <a:prstGeom prst="ellipse">
            <a:avLst/>
          </a:prstGeom>
          <a:solidFill>
            <a:srgbClr val="0A0A0C"/>
          </a:solidFill>
          <a:ln/>
        </p:spPr>
      </p:sp>
      <p:sp>
        <p:nvSpPr>
          <p:cNvPr id="8" name="Text 6"/>
          <p:cNvSpPr txBox="1"/>
          <p:nvPr/>
        </p:nvSpPr>
        <p:spPr>
          <a:xfrm>
            <a:off x="996696" y="2404872"/>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618488" y="2331720"/>
            <a:ext cx="94183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Analyze your profile</a:t>
            </a:r>
            <a:endParaRPr lang="en-US" sz="1800" dirty="0"/>
          </a:p>
        </p:txBody>
      </p:sp>
      <p:sp>
        <p:nvSpPr>
          <p:cNvPr id="10" name="Shape 8"/>
          <p:cNvSpPr/>
          <p:nvPr/>
        </p:nvSpPr>
        <p:spPr>
          <a:xfrm>
            <a:off x="777240" y="2973324"/>
            <a:ext cx="10607040" cy="513588"/>
          </a:xfrm>
          <a:prstGeom prst="roundRect">
            <a:avLst>
              <a:gd name="adj" fmla="val 17804"/>
            </a:avLst>
          </a:prstGeom>
          <a:solidFill>
            <a:srgbClr val="FFFFFF"/>
          </a:solidFill>
          <a:ln w="12700">
            <a:solidFill>
              <a:srgbClr val="DFE3E7"/>
            </a:solidFill>
            <a:prstDash val="solid"/>
          </a:ln>
        </p:spPr>
      </p:sp>
      <p:sp>
        <p:nvSpPr>
          <p:cNvPr id="11" name="Shape 9"/>
          <p:cNvSpPr/>
          <p:nvPr/>
        </p:nvSpPr>
        <p:spPr>
          <a:xfrm>
            <a:off x="996696" y="3046476"/>
            <a:ext cx="367284" cy="367284"/>
          </a:xfrm>
          <a:prstGeom prst="ellipse">
            <a:avLst/>
          </a:prstGeom>
          <a:solidFill>
            <a:srgbClr val="0A0A0C"/>
          </a:solidFill>
          <a:ln/>
        </p:spPr>
      </p:sp>
      <p:sp>
        <p:nvSpPr>
          <p:cNvPr id="12" name="Text 10"/>
          <p:cNvSpPr txBox="1"/>
          <p:nvPr/>
        </p:nvSpPr>
        <p:spPr>
          <a:xfrm>
            <a:off x="996696" y="3046476"/>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1618488" y="2973324"/>
            <a:ext cx="94183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Improve it with AI disputes</a:t>
            </a:r>
            <a:endParaRPr lang="en-US" sz="1800" dirty="0"/>
          </a:p>
        </p:txBody>
      </p:sp>
      <p:sp>
        <p:nvSpPr>
          <p:cNvPr id="14" name="Shape 12"/>
          <p:cNvSpPr/>
          <p:nvPr/>
        </p:nvSpPr>
        <p:spPr>
          <a:xfrm>
            <a:off x="777240" y="3614928"/>
            <a:ext cx="10607040" cy="513588"/>
          </a:xfrm>
          <a:prstGeom prst="roundRect">
            <a:avLst>
              <a:gd name="adj" fmla="val 17804"/>
            </a:avLst>
          </a:prstGeom>
          <a:solidFill>
            <a:srgbClr val="FFFFFF"/>
          </a:solidFill>
          <a:ln w="12700">
            <a:solidFill>
              <a:srgbClr val="DFE3E7"/>
            </a:solidFill>
            <a:prstDash val="solid"/>
          </a:ln>
        </p:spPr>
      </p:sp>
      <p:sp>
        <p:nvSpPr>
          <p:cNvPr id="15" name="Shape 13"/>
          <p:cNvSpPr/>
          <p:nvPr/>
        </p:nvSpPr>
        <p:spPr>
          <a:xfrm>
            <a:off x="996696" y="3688080"/>
            <a:ext cx="367284" cy="367284"/>
          </a:xfrm>
          <a:prstGeom prst="ellipse">
            <a:avLst/>
          </a:prstGeom>
          <a:solidFill>
            <a:srgbClr val="0A0A0C"/>
          </a:solidFill>
          <a:ln/>
        </p:spPr>
      </p:sp>
      <p:sp>
        <p:nvSpPr>
          <p:cNvPr id="16" name="Text 14"/>
          <p:cNvSpPr txBox="1"/>
          <p:nvPr/>
        </p:nvSpPr>
        <p:spPr>
          <a:xfrm>
            <a:off x="996696" y="3688080"/>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618488" y="3614928"/>
            <a:ext cx="94183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Know where to apply</a:t>
            </a:r>
            <a:endParaRPr lang="en-US" sz="1800" dirty="0"/>
          </a:p>
        </p:txBody>
      </p:sp>
      <p:sp>
        <p:nvSpPr>
          <p:cNvPr id="18" name="Shape 16"/>
          <p:cNvSpPr/>
          <p:nvPr/>
        </p:nvSpPr>
        <p:spPr>
          <a:xfrm>
            <a:off x="777240" y="4256532"/>
            <a:ext cx="10607040" cy="513588"/>
          </a:xfrm>
          <a:prstGeom prst="roundRect">
            <a:avLst>
              <a:gd name="adj" fmla="val 17804"/>
            </a:avLst>
          </a:prstGeom>
          <a:solidFill>
            <a:srgbClr val="FFFFFF"/>
          </a:solidFill>
          <a:ln w="12700">
            <a:solidFill>
              <a:srgbClr val="DFE3E7"/>
            </a:solidFill>
            <a:prstDash val="solid"/>
          </a:ln>
        </p:spPr>
      </p:sp>
      <p:sp>
        <p:nvSpPr>
          <p:cNvPr id="19" name="Shape 17"/>
          <p:cNvSpPr/>
          <p:nvPr/>
        </p:nvSpPr>
        <p:spPr>
          <a:xfrm>
            <a:off x="996696" y="4329684"/>
            <a:ext cx="367284" cy="367284"/>
          </a:xfrm>
          <a:prstGeom prst="ellipse">
            <a:avLst/>
          </a:prstGeom>
          <a:solidFill>
            <a:srgbClr val="0A0A0C"/>
          </a:solidFill>
          <a:ln/>
        </p:spPr>
      </p:sp>
      <p:sp>
        <p:nvSpPr>
          <p:cNvPr id="20" name="Text 18"/>
          <p:cNvSpPr txBox="1"/>
          <p:nvPr/>
        </p:nvSpPr>
        <p:spPr>
          <a:xfrm>
            <a:off x="996696" y="4329684"/>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9"/>
          <p:cNvSpPr txBox="1"/>
          <p:nvPr/>
        </p:nvSpPr>
        <p:spPr>
          <a:xfrm>
            <a:off x="1618488" y="4256532"/>
            <a:ext cx="94183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Launch a credit repair business</a:t>
            </a:r>
            <a:endParaRPr lang="en-US" sz="1800" dirty="0"/>
          </a:p>
        </p:txBody>
      </p:sp>
      <p:sp>
        <p:nvSpPr>
          <p:cNvPr id="22" name="Shape 20"/>
          <p:cNvSpPr/>
          <p:nvPr/>
        </p:nvSpPr>
        <p:spPr>
          <a:xfrm>
            <a:off x="777240" y="4898136"/>
            <a:ext cx="10607040" cy="513588"/>
          </a:xfrm>
          <a:prstGeom prst="roundRect">
            <a:avLst>
              <a:gd name="adj" fmla="val 17804"/>
            </a:avLst>
          </a:prstGeom>
          <a:solidFill>
            <a:srgbClr val="FFFFFF"/>
          </a:solidFill>
          <a:ln w="12700">
            <a:solidFill>
              <a:srgbClr val="DFE3E7"/>
            </a:solidFill>
            <a:prstDash val="solid"/>
          </a:ln>
        </p:spPr>
      </p:sp>
      <p:sp>
        <p:nvSpPr>
          <p:cNvPr id="23" name="Shape 21"/>
          <p:cNvSpPr/>
          <p:nvPr/>
        </p:nvSpPr>
        <p:spPr>
          <a:xfrm>
            <a:off x="996696" y="4971288"/>
            <a:ext cx="367284" cy="367284"/>
          </a:xfrm>
          <a:prstGeom prst="ellipse">
            <a:avLst/>
          </a:prstGeom>
          <a:solidFill>
            <a:srgbClr val="0A0A0C"/>
          </a:solidFill>
          <a:ln/>
        </p:spPr>
      </p:sp>
      <p:sp>
        <p:nvSpPr>
          <p:cNvPr id="24" name="Text 22"/>
          <p:cNvSpPr txBox="1"/>
          <p:nvPr/>
        </p:nvSpPr>
        <p:spPr>
          <a:xfrm>
            <a:off x="996696" y="4971288"/>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5" name="Text 23"/>
          <p:cNvSpPr txBox="1"/>
          <p:nvPr/>
        </p:nvSpPr>
        <p:spPr>
          <a:xfrm>
            <a:off x="1618488" y="4898136"/>
            <a:ext cx="94183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Launch a funding business</a:t>
            </a:r>
            <a:endParaRPr lang="en-US" sz="1800" dirty="0"/>
          </a:p>
        </p:txBody>
      </p:sp>
      <p:sp>
        <p:nvSpPr>
          <p:cNvPr id="26" name="Shape 24"/>
          <p:cNvSpPr/>
          <p:nvPr/>
        </p:nvSpPr>
        <p:spPr>
          <a:xfrm>
            <a:off x="777240" y="5539740"/>
            <a:ext cx="10607040" cy="513588"/>
          </a:xfrm>
          <a:prstGeom prst="roundRect">
            <a:avLst>
              <a:gd name="adj" fmla="val 17804"/>
            </a:avLst>
          </a:prstGeom>
          <a:solidFill>
            <a:srgbClr val="FFFFFF"/>
          </a:solidFill>
          <a:ln w="12700">
            <a:solidFill>
              <a:srgbClr val="DFE3E7"/>
            </a:solidFill>
            <a:prstDash val="solid"/>
          </a:ln>
        </p:spPr>
      </p:sp>
      <p:sp>
        <p:nvSpPr>
          <p:cNvPr id="27" name="Shape 25"/>
          <p:cNvSpPr/>
          <p:nvPr/>
        </p:nvSpPr>
        <p:spPr>
          <a:xfrm>
            <a:off x="996696" y="5612892"/>
            <a:ext cx="367284" cy="367284"/>
          </a:xfrm>
          <a:prstGeom prst="ellipse">
            <a:avLst/>
          </a:prstGeom>
          <a:solidFill>
            <a:srgbClr val="0A0A0C"/>
          </a:solidFill>
          <a:ln/>
        </p:spPr>
      </p:sp>
      <p:sp>
        <p:nvSpPr>
          <p:cNvPr id="28" name="Text 26"/>
          <p:cNvSpPr txBox="1"/>
          <p:nvPr/>
        </p:nvSpPr>
        <p:spPr>
          <a:xfrm>
            <a:off x="996696" y="5612892"/>
            <a:ext cx="367284" cy="3672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9" name="Text 27"/>
          <p:cNvSpPr txBox="1"/>
          <p:nvPr/>
        </p:nvSpPr>
        <p:spPr>
          <a:xfrm>
            <a:off x="1618488" y="5539740"/>
            <a:ext cx="94183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Refer it and earn</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500" b="1" dirty="0">
                <a:solidFill>
                  <a:srgbClr val="FFFFFF"/>
                </a:solidFill>
                <a:latin typeface="Arial" pitchFamily="34" charset="0"/>
                <a:ea typeface="Arial" pitchFamily="34" charset="-122"/>
                <a:cs typeface="Arial" pitchFamily="34" charset="-120"/>
              </a:rPr>
              <a:t>Type every number that applies</a:t>
            </a:r>
            <a:endParaRPr lang="en-US" sz="4500" dirty="0"/>
          </a:p>
          <a:p>
            <a:pPr indent="0" marL="0">
              <a:lnSpc>
                <a:spcPts val="5600"/>
              </a:lnSpc>
              <a:buNone/>
            </a:pPr>
            <a:r>
              <a:rPr lang="en-US" sz="4500" b="1" dirty="0">
                <a:solidFill>
                  <a:srgbClr val="FFFFFF"/>
                </a:solidFill>
                <a:latin typeface="Arial" pitchFamily="34" charset="0"/>
                <a:ea typeface="Arial" pitchFamily="34" charset="-122"/>
                <a:cs typeface="Arial" pitchFamily="34" charset="-120"/>
              </a:rPr>
              <a:t>to you. Not one — all of them.</a:t>
            </a:r>
            <a:endParaRPr lang="en-US" sz="4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777240" y="822960"/>
            <a:ext cx="155448" cy="155448"/>
          </a:xfrm>
          <a:prstGeom prst="ellipse">
            <a:avLst/>
          </a:prstGeom>
          <a:solidFill>
            <a:srgbClr val="D61A20"/>
          </a:solidFill>
          <a:ln/>
        </p:spPr>
      </p:sp>
      <p:sp>
        <p:nvSpPr>
          <p:cNvPr id="3" name="Shape 1"/>
          <p:cNvSpPr/>
          <p:nvPr/>
        </p:nvSpPr>
        <p:spPr>
          <a:xfrm>
            <a:off x="1033272" y="822960"/>
            <a:ext cx="155448" cy="155448"/>
          </a:xfrm>
          <a:prstGeom prst="ellipse">
            <a:avLst/>
          </a:prstGeom>
          <a:solidFill>
            <a:srgbClr val="D6A83A"/>
          </a:solidFill>
          <a:ln/>
        </p:spPr>
      </p:sp>
      <p:sp>
        <p:nvSpPr>
          <p:cNvPr id="4" name="Shape 2"/>
          <p:cNvSpPr/>
          <p:nvPr/>
        </p:nvSpPr>
        <p:spPr>
          <a:xfrm>
            <a:off x="1289304" y="822960"/>
            <a:ext cx="155448" cy="155448"/>
          </a:xfrm>
          <a:prstGeom prst="ellipse">
            <a:avLst/>
          </a:prstGeom>
          <a:solidFill>
            <a:srgbClr val="2ECC34"/>
          </a:solidFill>
          <a:ln/>
        </p:spPr>
      </p:sp>
      <p:sp>
        <p:nvSpPr>
          <p:cNvPr id="5" name="Text 3"/>
          <p:cNvSpPr txBox="1"/>
          <p:nvPr/>
        </p:nvSpPr>
        <p:spPr>
          <a:xfrm>
            <a:off x="777240" y="1143000"/>
            <a:ext cx="10607040" cy="82296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THE TWO FILES</a:t>
            </a:r>
            <a:endParaRPr lang="en-US" sz="4000" dirty="0"/>
          </a:p>
        </p:txBody>
      </p:sp>
      <p:sp>
        <p:nvSpPr>
          <p:cNvPr id="6" name="Shape 4"/>
          <p:cNvSpPr/>
          <p:nvPr/>
        </p:nvSpPr>
        <p:spPr>
          <a:xfrm>
            <a:off x="777240" y="2286000"/>
            <a:ext cx="5120640" cy="3246120"/>
          </a:xfrm>
          <a:prstGeom prst="roundRect">
            <a:avLst>
              <a:gd name="adj" fmla="val 3380"/>
            </a:avLst>
          </a:prstGeom>
          <a:solidFill>
            <a:srgbClr val="FFFFFF"/>
          </a:solidFill>
          <a:ln w="12700">
            <a:solidFill>
              <a:srgbClr val="DFE3E7"/>
            </a:solidFill>
            <a:prstDash val="solid"/>
          </a:ln>
        </p:spPr>
      </p:sp>
      <p:sp>
        <p:nvSpPr>
          <p:cNvPr id="7" name="Shape 5"/>
          <p:cNvSpPr/>
          <p:nvPr/>
        </p:nvSpPr>
        <p:spPr>
          <a:xfrm>
            <a:off x="1051560" y="2514600"/>
            <a:ext cx="1371600" cy="411480"/>
          </a:xfrm>
          <a:prstGeom prst="roundRect">
            <a:avLst>
              <a:gd name="adj" fmla="val 17778"/>
            </a:avLst>
          </a:prstGeom>
          <a:solidFill>
            <a:srgbClr val="D61A20"/>
          </a:solidFill>
          <a:ln/>
        </p:spPr>
      </p:sp>
      <p:sp>
        <p:nvSpPr>
          <p:cNvPr id="8" name="Text 6"/>
          <p:cNvSpPr txBox="1"/>
          <p:nvPr/>
        </p:nvSpPr>
        <p:spPr>
          <a:xfrm>
            <a:off x="1051560" y="2514600"/>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NOT ELIGIBLE</a:t>
            </a:r>
            <a:endParaRPr lang="en-US" sz="1400" dirty="0"/>
          </a:p>
        </p:txBody>
      </p:sp>
      <p:sp>
        <p:nvSpPr>
          <p:cNvPr id="9" name="Text 7"/>
          <p:cNvSpPr txBox="1"/>
          <p:nvPr/>
        </p:nvSpPr>
        <p:spPr>
          <a:xfrm>
            <a:off x="1051560" y="315468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14 inquiries</a:t>
            </a:r>
            <a:endParaRPr lang="en-US" sz="2000" dirty="0"/>
          </a:p>
        </p:txBody>
      </p:sp>
      <p:sp>
        <p:nvSpPr>
          <p:cNvPr id="10" name="Text 8"/>
          <p:cNvSpPr txBox="1"/>
          <p:nvPr/>
        </p:nvSpPr>
        <p:spPr>
          <a:xfrm>
            <a:off x="1051560" y="365760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Collections + charge-offs</a:t>
            </a:r>
            <a:endParaRPr lang="en-US" sz="2000" dirty="0"/>
          </a:p>
        </p:txBody>
      </p:sp>
      <p:sp>
        <p:nvSpPr>
          <p:cNvPr id="11" name="Text 9"/>
          <p:cNvSpPr txBox="1"/>
          <p:nvPr/>
        </p:nvSpPr>
        <p:spPr>
          <a:xfrm>
            <a:off x="1051560" y="416052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101% utilization</a:t>
            </a:r>
            <a:endParaRPr lang="en-US" sz="2000" dirty="0"/>
          </a:p>
        </p:txBody>
      </p:sp>
      <p:sp>
        <p:nvSpPr>
          <p:cNvPr id="12" name="Text 10"/>
          <p:cNvSpPr txBox="1"/>
          <p:nvPr/>
        </p:nvSpPr>
        <p:spPr>
          <a:xfrm>
            <a:off x="1051560" y="466344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Approval odds: −$5,000</a:t>
            </a:r>
            <a:endParaRPr lang="en-US" sz="2000" dirty="0"/>
          </a:p>
        </p:txBody>
      </p:sp>
      <p:sp>
        <p:nvSpPr>
          <p:cNvPr id="13" name="Shape 11"/>
          <p:cNvSpPr/>
          <p:nvPr/>
        </p:nvSpPr>
        <p:spPr>
          <a:xfrm>
            <a:off x="6263640" y="2286000"/>
            <a:ext cx="5120640" cy="3246120"/>
          </a:xfrm>
          <a:prstGeom prst="roundRect">
            <a:avLst>
              <a:gd name="adj" fmla="val 3380"/>
            </a:avLst>
          </a:prstGeom>
          <a:solidFill>
            <a:srgbClr val="FFFFFF"/>
          </a:solidFill>
          <a:ln w="12700">
            <a:solidFill>
              <a:srgbClr val="DFE3E7"/>
            </a:solidFill>
            <a:prstDash val="solid"/>
          </a:ln>
        </p:spPr>
      </p:sp>
      <p:sp>
        <p:nvSpPr>
          <p:cNvPr id="14" name="Shape 12"/>
          <p:cNvSpPr/>
          <p:nvPr/>
        </p:nvSpPr>
        <p:spPr>
          <a:xfrm>
            <a:off x="6537960" y="2514600"/>
            <a:ext cx="1371600" cy="411480"/>
          </a:xfrm>
          <a:prstGeom prst="roundRect">
            <a:avLst>
              <a:gd name="adj" fmla="val 17778"/>
            </a:avLst>
          </a:prstGeom>
          <a:solidFill>
            <a:srgbClr val="2ECC34"/>
          </a:solidFill>
          <a:ln/>
        </p:spPr>
      </p:sp>
      <p:sp>
        <p:nvSpPr>
          <p:cNvPr id="15" name="Text 13"/>
          <p:cNvSpPr txBox="1"/>
          <p:nvPr/>
        </p:nvSpPr>
        <p:spPr>
          <a:xfrm>
            <a:off x="6537960" y="2514600"/>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FUNDABLE</a:t>
            </a:r>
            <a:endParaRPr lang="en-US" sz="1400" dirty="0"/>
          </a:p>
        </p:txBody>
      </p:sp>
      <p:sp>
        <p:nvSpPr>
          <p:cNvPr id="16" name="Text 14"/>
          <p:cNvSpPr txBox="1"/>
          <p:nvPr/>
        </p:nvSpPr>
        <p:spPr>
          <a:xfrm>
            <a:off x="6537960" y="315468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1 inquiry</a:t>
            </a:r>
            <a:endParaRPr lang="en-US" sz="2000" dirty="0"/>
          </a:p>
        </p:txBody>
      </p:sp>
      <p:sp>
        <p:nvSpPr>
          <p:cNvPr id="17" name="Text 15"/>
          <p:cNvSpPr txBox="1"/>
          <p:nvPr/>
        </p:nvSpPr>
        <p:spPr>
          <a:xfrm>
            <a:off x="6537960" y="365760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0 collections</a:t>
            </a:r>
            <a:endParaRPr lang="en-US" sz="2000" dirty="0"/>
          </a:p>
        </p:txBody>
      </p:sp>
      <p:sp>
        <p:nvSpPr>
          <p:cNvPr id="18" name="Text 16"/>
          <p:cNvSpPr txBox="1"/>
          <p:nvPr/>
        </p:nvSpPr>
        <p:spPr>
          <a:xfrm>
            <a:off x="6537960" y="416052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2% utilization</a:t>
            </a:r>
            <a:endParaRPr lang="en-US" sz="2000" dirty="0"/>
          </a:p>
        </p:txBody>
      </p:sp>
      <p:sp>
        <p:nvSpPr>
          <p:cNvPr id="19" name="Text 17"/>
          <p:cNvSpPr txBox="1"/>
          <p:nvPr/>
        </p:nvSpPr>
        <p:spPr>
          <a:xfrm>
            <a:off x="6537960" y="4663440"/>
            <a:ext cx="4572000" cy="457200"/>
          </a:xfrm>
          <a:prstGeom prst="rect">
            <a:avLst/>
          </a:prstGeom>
          <a:noFill/>
          <a:ln/>
        </p:spPr>
        <p:txBody>
          <a:bodyPr wrap="square" lIns="0" tIns="0" rIns="0" bIns="0" rtlCol="0" anchor="ctr"/>
          <a:lstStyle/>
          <a:p>
            <a:pPr indent="0" marL="0">
              <a:buNone/>
            </a:pPr>
            <a:r>
              <a:rPr lang="en-US" sz="2000" dirty="0">
                <a:solidFill>
                  <a:srgbClr val="2A2E33"/>
                </a:solidFill>
                <a:latin typeface="Calibri" pitchFamily="34" charset="0"/>
                <a:ea typeface="Calibri" pitchFamily="34" charset="-122"/>
                <a:cs typeface="Calibri" pitchFamily="34" charset="-120"/>
              </a:rPr>
              <a:t>Every line green</a:t>
            </a:r>
            <a:endParaRPr 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7500" b="1" dirty="0">
                <a:solidFill>
                  <a:srgbClr val="FFFFFF"/>
                </a:solidFill>
                <a:latin typeface="Arial" pitchFamily="34" charset="0"/>
                <a:ea typeface="Arial" pitchFamily="34" charset="-122"/>
                <a:cs typeface="Arial" pitchFamily="34" charset="-120"/>
              </a:rPr>
              <a:t>Which one are you?</a:t>
            </a:r>
            <a:endParaRPr lang="en-US" sz="7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4300" b="1" dirty="0">
                <a:solidFill>
                  <a:srgbClr val="0A0A0C"/>
                </a:solidFill>
                <a:latin typeface="Arial" pitchFamily="34" charset="0"/>
                <a:ea typeface="Arial" pitchFamily="34" charset="-122"/>
                <a:cs typeface="Arial" pitchFamily="34" charset="-120"/>
              </a:rPr>
              <a:t>The gap between those two files</a:t>
            </a:r>
            <a:endParaRPr lang="en-US" sz="4300" dirty="0"/>
          </a:p>
          <a:p>
            <a:pPr indent="0" marL="0">
              <a:lnSpc>
                <a:spcPts val="6400"/>
              </a:lnSpc>
              <a:buNone/>
            </a:pPr>
            <a:r>
              <a:rPr lang="en-US" sz="4300" b="1" dirty="0">
                <a:solidFill>
                  <a:srgbClr val="0A0A0C"/>
                </a:solidFill>
                <a:latin typeface="Arial" pitchFamily="34" charset="0"/>
                <a:ea typeface="Arial" pitchFamily="34" charset="-122"/>
                <a:cs typeface="Arial" pitchFamily="34" charset="-120"/>
              </a:rPr>
              <a:t>isn't willpower.</a:t>
            </a:r>
            <a:endParaRPr lang="en-US" sz="4300" dirty="0"/>
          </a:p>
        </p:txBody>
      </p:sp>
      <p:sp>
        <p:nvSpPr>
          <p:cNvPr id="6" name="Text 4"/>
          <p:cNvSpPr txBox="1"/>
          <p:nvPr/>
        </p:nvSpPr>
        <p:spPr>
          <a:xfrm>
            <a:off x="777240" y="4114800"/>
            <a:ext cx="10607040" cy="1005840"/>
          </a:xfrm>
          <a:prstGeom prst="rect">
            <a:avLst/>
          </a:prstGeom>
          <a:noFill/>
          <a:ln/>
        </p:spPr>
        <p:txBody>
          <a:bodyPr wrap="square" lIns="0" tIns="0" rIns="0" bIns="0" rtlCol="0" anchor="ctr"/>
          <a:lstStyle/>
          <a:p>
            <a:pPr indent="0" marL="0">
              <a:buNone/>
            </a:pPr>
            <a:r>
              <a:rPr lang="en-US" sz="2600" dirty="0">
                <a:solidFill>
                  <a:srgbClr val="2A2E33"/>
                </a:solidFill>
                <a:latin typeface="Calibri" pitchFamily="34" charset="0"/>
                <a:ea typeface="Calibri" pitchFamily="34" charset="-122"/>
                <a:cs typeface="Calibri" pitchFamily="34" charset="-120"/>
              </a:rPr>
              <a:t>It's a checklist and a tool.</a:t>
            </a:r>
            <a:endParaRPr lang="en-US" sz="2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THREE LEVERS</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Shape 5"/>
          <p:cNvSpPr/>
          <p:nvPr/>
        </p:nvSpPr>
        <p:spPr>
          <a:xfrm>
            <a:off x="996696" y="2519172"/>
            <a:ext cx="402336" cy="402336"/>
          </a:xfrm>
          <a:prstGeom prst="ellipse">
            <a:avLst/>
          </a:prstGeom>
          <a:solidFill>
            <a:srgbClr val="0A0A0C"/>
          </a:solidFill>
          <a:ln/>
        </p:spPr>
      </p:sp>
      <p:sp>
        <p:nvSpPr>
          <p:cNvPr id="8" name="Text 6"/>
          <p:cNvSpPr txBox="1"/>
          <p:nvPr/>
        </p:nvSpPr>
        <p:spPr>
          <a:xfrm>
            <a:off x="996696" y="251917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618488" y="2331720"/>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Pay down what's high — often $7–8 a week</a:t>
            </a:r>
            <a:endParaRPr lang="en-US" sz="2100" dirty="0"/>
          </a:p>
        </p:txBody>
      </p:sp>
      <p:sp>
        <p:nvSpPr>
          <p:cNvPr id="10" name="Shape 8"/>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11" name="Shape 9"/>
          <p:cNvSpPr/>
          <p:nvPr/>
        </p:nvSpPr>
        <p:spPr>
          <a:xfrm>
            <a:off x="996696" y="3424428"/>
            <a:ext cx="402336" cy="402336"/>
          </a:xfrm>
          <a:prstGeom prst="ellipse">
            <a:avLst/>
          </a:prstGeom>
          <a:solidFill>
            <a:srgbClr val="0A0A0C"/>
          </a:solidFill>
          <a:ln/>
        </p:spPr>
      </p:sp>
      <p:sp>
        <p:nvSpPr>
          <p:cNvPr id="12" name="Text 10"/>
          <p:cNvSpPr txBox="1"/>
          <p:nvPr/>
        </p:nvSpPr>
        <p:spPr>
          <a:xfrm>
            <a:off x="996696" y="342442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618488" y="3236976"/>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Remove what shouldn't be there</a:t>
            </a:r>
            <a:endParaRPr lang="en-US" sz="2100" dirty="0"/>
          </a:p>
        </p:txBody>
      </p:sp>
      <p:sp>
        <p:nvSpPr>
          <p:cNvPr id="14" name="Shape 12"/>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5" name="Shape 13"/>
          <p:cNvSpPr/>
          <p:nvPr/>
        </p:nvSpPr>
        <p:spPr>
          <a:xfrm>
            <a:off x="996696" y="4329684"/>
            <a:ext cx="402336" cy="402336"/>
          </a:xfrm>
          <a:prstGeom prst="ellipse">
            <a:avLst/>
          </a:prstGeom>
          <a:solidFill>
            <a:srgbClr val="0A0A0C"/>
          </a:solidFill>
          <a:ln/>
        </p:spPr>
      </p:sp>
      <p:sp>
        <p:nvSpPr>
          <p:cNvPr id="16" name="Text 14"/>
          <p:cNvSpPr txBox="1"/>
          <p:nvPr/>
        </p:nvSpPr>
        <p:spPr>
          <a:xfrm>
            <a:off x="996696" y="432968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618488" y="4142232"/>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Only apply where you're actually eligible</a:t>
            </a:r>
            <a:endParaRPr lang="en-US" sz="2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$8 a week</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is doable for you.</a:t>
            </a:r>
            <a:endParaRPr lang="en-US" sz="4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5600" b="1" dirty="0">
                <a:solidFill>
                  <a:srgbClr val="0A0A0C"/>
                </a:solidFill>
                <a:latin typeface="Arial" pitchFamily="34" charset="0"/>
                <a:ea typeface="Arial" pitchFamily="34" charset="-122"/>
                <a:cs typeface="Arial" pitchFamily="34" charset="-120"/>
              </a:rPr>
              <a:t>The house.</a:t>
            </a:r>
            <a:endParaRPr lang="en-US" sz="5600" dirty="0"/>
          </a:p>
          <a:p>
            <a:pPr indent="0" marL="0">
              <a:lnSpc>
                <a:spcPts val="6400"/>
              </a:lnSpc>
              <a:buNone/>
            </a:pPr>
            <a:r>
              <a:rPr lang="en-US" sz="5600" b="1" dirty="0">
                <a:solidFill>
                  <a:srgbClr val="0A0A0C"/>
                </a:solidFill>
                <a:latin typeface="Arial" pitchFamily="34" charset="0"/>
                <a:ea typeface="Arial" pitchFamily="34" charset="-122"/>
                <a:cs typeface="Arial" pitchFamily="34" charset="-120"/>
              </a:rPr>
              <a:t>The car.</a:t>
            </a:r>
            <a:endParaRPr lang="en-US" sz="5600" dirty="0"/>
          </a:p>
          <a:p>
            <a:pPr indent="0" marL="0">
              <a:lnSpc>
                <a:spcPts val="6400"/>
              </a:lnSpc>
              <a:buNone/>
            </a:pPr>
            <a:r>
              <a:rPr lang="en-US" sz="5600" b="1" dirty="0">
                <a:solidFill>
                  <a:srgbClr val="0A0A0C"/>
                </a:solidFill>
                <a:latin typeface="Arial" pitchFamily="34" charset="0"/>
                <a:ea typeface="Arial" pitchFamily="34" charset="-122"/>
                <a:cs typeface="Arial" pitchFamily="34" charset="-120"/>
              </a:rPr>
              <a:t>The capital.</a:t>
            </a:r>
            <a:endParaRPr lang="en-US" sz="5600" dirty="0"/>
          </a:p>
        </p:txBody>
      </p:sp>
      <p:sp>
        <p:nvSpPr>
          <p:cNvPr id="6" name="Text 4"/>
          <p:cNvSpPr txBox="1"/>
          <p:nvPr/>
        </p:nvSpPr>
        <p:spPr>
          <a:xfrm>
            <a:off x="777240" y="4114800"/>
            <a:ext cx="10607040" cy="1005840"/>
          </a:xfrm>
          <a:prstGeom prst="rect">
            <a:avLst/>
          </a:prstGeom>
          <a:noFill/>
          <a:ln/>
        </p:spPr>
        <p:txBody>
          <a:bodyPr wrap="square" lIns="0" tIns="0" rIns="0" bIns="0" rtlCol="0" anchor="ctr"/>
          <a:lstStyle/>
          <a:p>
            <a:pPr indent="0" marL="0">
              <a:buNone/>
            </a:pPr>
            <a:r>
              <a:rPr lang="en-US" sz="2600" dirty="0">
                <a:solidFill>
                  <a:srgbClr val="2A2E33"/>
                </a:solidFill>
                <a:latin typeface="Calibri" pitchFamily="34" charset="0"/>
                <a:ea typeface="Calibri" pitchFamily="34" charset="-122"/>
                <a:cs typeface="Calibri" pitchFamily="34" charset="-120"/>
              </a:rPr>
              <a:t>Or a business of your own.</a:t>
            </a:r>
            <a:endParaRPr lang="en-US" sz="2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7000" b="1" dirty="0">
                <a:solidFill>
                  <a:srgbClr val="FFFFFF"/>
                </a:solidFill>
                <a:latin typeface="Arial" pitchFamily="34" charset="0"/>
                <a:ea typeface="Arial" pitchFamily="34" charset="-122"/>
                <a:cs typeface="Arial" pitchFamily="34" charset="-120"/>
              </a:rPr>
              <a:t>All six.</a:t>
            </a:r>
            <a:endParaRPr lang="en-US" sz="7000" dirty="0"/>
          </a:p>
          <a:p>
            <a:pPr indent="0" marL="0">
              <a:lnSpc>
                <a:spcPts val="6400"/>
              </a:lnSpc>
              <a:buNone/>
            </a:pPr>
            <a:r>
              <a:rPr lang="en-US" sz="7000" b="1" dirty="0">
                <a:solidFill>
                  <a:srgbClr val="FFFFFF"/>
                </a:solidFill>
                <a:latin typeface="Arial" pitchFamily="34" charset="0"/>
                <a:ea typeface="Arial" pitchFamily="34" charset="-122"/>
                <a:cs typeface="Arial" pitchFamily="34" charset="-120"/>
              </a:rPr>
              <a:t>One login.</a:t>
            </a:r>
            <a:endParaRPr lang="en-US" sz="7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500" b="1" dirty="0">
                <a:solidFill>
                  <a:srgbClr val="FFFFFF"/>
                </a:solidFill>
                <a:latin typeface="Arial" pitchFamily="34" charset="0"/>
                <a:ea typeface="Arial" pitchFamily="34" charset="-122"/>
                <a:cs typeface="Arial" pitchFamily="34" charset="-120"/>
              </a:rPr>
              <a:t>Type YES if you'd want all six</a:t>
            </a:r>
            <a:endParaRPr lang="en-US" sz="4500" dirty="0"/>
          </a:p>
          <a:p>
            <a:pPr indent="0" marL="0">
              <a:lnSpc>
                <a:spcPts val="5600"/>
              </a:lnSpc>
              <a:buNone/>
            </a:pPr>
            <a:r>
              <a:rPr lang="en-US" sz="4500" b="1" dirty="0">
                <a:solidFill>
                  <a:srgbClr val="FFFFFF"/>
                </a:solidFill>
                <a:latin typeface="Arial" pitchFamily="34" charset="0"/>
                <a:ea typeface="Arial" pitchFamily="34" charset="-122"/>
                <a:cs typeface="Arial" pitchFamily="34" charset="-120"/>
              </a:rPr>
              <a:t>of those in one place.</a:t>
            </a:r>
            <a:endParaRPr lang="en-US" sz="4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777240" y="777240"/>
            <a:ext cx="155448" cy="155448"/>
          </a:xfrm>
          <a:prstGeom prst="ellipse">
            <a:avLst/>
          </a:prstGeom>
          <a:solidFill>
            <a:srgbClr val="D61A20"/>
          </a:solidFill>
          <a:ln/>
        </p:spPr>
      </p:sp>
      <p:sp>
        <p:nvSpPr>
          <p:cNvPr id="3" name="Shape 1"/>
          <p:cNvSpPr/>
          <p:nvPr/>
        </p:nvSpPr>
        <p:spPr>
          <a:xfrm>
            <a:off x="1033272" y="777240"/>
            <a:ext cx="155448" cy="155448"/>
          </a:xfrm>
          <a:prstGeom prst="ellipse">
            <a:avLst/>
          </a:prstGeom>
          <a:solidFill>
            <a:srgbClr val="D6A83A"/>
          </a:solidFill>
          <a:ln/>
        </p:spPr>
      </p:sp>
      <p:sp>
        <p:nvSpPr>
          <p:cNvPr id="4" name="Shape 2"/>
          <p:cNvSpPr/>
          <p:nvPr/>
        </p:nvSpPr>
        <p:spPr>
          <a:xfrm>
            <a:off x="1289304" y="777240"/>
            <a:ext cx="155448" cy="155448"/>
          </a:xfrm>
          <a:prstGeom prst="ellipse">
            <a:avLst/>
          </a:prstGeom>
          <a:solidFill>
            <a:srgbClr val="2ECC34"/>
          </a:solidFill>
          <a:ln/>
        </p:spPr>
      </p:sp>
      <p:sp>
        <p:nvSpPr>
          <p:cNvPr id="5" name="Text 3"/>
          <p:cNvSpPr txBox="1"/>
          <p:nvPr/>
        </p:nvSpPr>
        <p:spPr>
          <a:xfrm>
            <a:off x="777240" y="1097280"/>
            <a:ext cx="10607040" cy="73152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WHAT YOU GET</a:t>
            </a:r>
            <a:endParaRPr lang="en-US" sz="4000" dirty="0"/>
          </a:p>
        </p:txBody>
      </p:sp>
      <p:graphicFrame>
        <p:nvGraphicFramePr>
          <p:cNvPr id="6" name="Chart 0" descr=""/>
          <p:cNvGraphicFramePr/>
          <p:nvPr/>
        </p:nvGraphicFramePr>
        <p:xfrm>
          <a:off x="777240" y="1965960"/>
          <a:ext cx="10607040" cy="36576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463040"/>
            <a:ext cx="10607040" cy="1737360"/>
          </a:xfrm>
          <a:prstGeom prst="rect">
            <a:avLst/>
          </a:prstGeom>
          <a:noFill/>
          <a:ln/>
        </p:spPr>
        <p:txBody>
          <a:bodyPr wrap="square" lIns="0" tIns="0" rIns="0" bIns="0" rtlCol="0" anchor="ctr"/>
          <a:lstStyle/>
          <a:p>
            <a:pPr indent="0" marL="0">
              <a:buNone/>
            </a:pPr>
            <a:r>
              <a:rPr lang="en-US" sz="12000" b="1" dirty="0">
                <a:solidFill>
                  <a:srgbClr val="FFFFFF"/>
                </a:solidFill>
                <a:latin typeface="Arial" pitchFamily="34" charset="0"/>
                <a:ea typeface="Arial" pitchFamily="34" charset="-122"/>
                <a:cs typeface="Arial" pitchFamily="34" charset="-120"/>
              </a:rPr>
              <a:t>$997</a:t>
            </a:r>
            <a:endParaRPr lang="en-US" sz="12000" dirty="0"/>
          </a:p>
        </p:txBody>
      </p:sp>
      <p:sp>
        <p:nvSpPr>
          <p:cNvPr id="6" name="Text 4"/>
          <p:cNvSpPr txBox="1"/>
          <p:nvPr/>
        </p:nvSpPr>
        <p:spPr>
          <a:xfrm>
            <a:off x="777240" y="3291840"/>
            <a:ext cx="10607040" cy="640080"/>
          </a:xfrm>
          <a:prstGeom prst="rect">
            <a:avLst/>
          </a:prstGeom>
          <a:noFill/>
          <a:ln/>
        </p:spPr>
        <p:txBody>
          <a:bodyPr wrap="square" lIns="0" tIns="0" rIns="0" bIns="0" rtlCol="0" anchor="ctr"/>
          <a:lstStyle/>
          <a:p>
            <a:pPr indent="0" marL="0">
              <a:buNone/>
            </a:pPr>
            <a:r>
              <a:rPr lang="en-US" sz="2600" dirty="0">
                <a:solidFill>
                  <a:srgbClr val="C9CFD6"/>
                </a:solidFill>
                <a:latin typeface="Calibri" pitchFamily="34" charset="0"/>
                <a:ea typeface="Calibri" pitchFamily="34" charset="-122"/>
                <a:cs typeface="Calibri" pitchFamily="34" charset="-120"/>
              </a:rPr>
              <a:t>TOTAL VALUE</a:t>
            </a:r>
            <a:endParaRPr lang="en-US" sz="2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463040"/>
            <a:ext cx="10607040" cy="914400"/>
          </a:xfrm>
          <a:prstGeom prst="rect">
            <a:avLst/>
          </a:prstGeom>
          <a:noFill/>
          <a:ln/>
        </p:spPr>
        <p:txBody>
          <a:bodyPr wrap="square" lIns="0" tIns="0" rIns="0" bIns="0" rtlCol="0" anchor="ctr"/>
          <a:lstStyle/>
          <a:p>
            <a:pPr indent="0" marL="0">
              <a:buNone/>
            </a:pPr>
            <a:r>
              <a:rPr lang="en-US" sz="6400" b="1" strike="sngStrike" dirty="0">
                <a:solidFill>
                  <a:srgbClr val="6B7280"/>
                </a:solidFill>
                <a:latin typeface="Arial" pitchFamily="34" charset="0"/>
                <a:ea typeface="Arial" pitchFamily="34" charset="-122"/>
                <a:cs typeface="Arial" pitchFamily="34" charset="-120"/>
              </a:rPr>
              <a:t>$997</a:t>
            </a:r>
            <a:endParaRPr lang="en-US" sz="6400" dirty="0"/>
          </a:p>
        </p:txBody>
      </p:sp>
      <p:sp>
        <p:nvSpPr>
          <p:cNvPr id="6" name="Text 4"/>
          <p:cNvSpPr txBox="1"/>
          <p:nvPr/>
        </p:nvSpPr>
        <p:spPr>
          <a:xfrm>
            <a:off x="777240" y="2514600"/>
            <a:ext cx="10607040" cy="1737360"/>
          </a:xfrm>
          <a:prstGeom prst="rect">
            <a:avLst/>
          </a:prstGeom>
          <a:noFill/>
          <a:ln/>
        </p:spPr>
        <p:txBody>
          <a:bodyPr wrap="square" lIns="0" tIns="0" rIns="0" bIns="0" rtlCol="0" anchor="ctr"/>
          <a:lstStyle/>
          <a:p>
            <a:pPr indent="0" marL="0">
              <a:buNone/>
            </a:pPr>
            <a:r>
              <a:rPr lang="en-US" sz="12000" b="1" dirty="0">
                <a:solidFill>
                  <a:srgbClr val="FFFFFF"/>
                </a:solidFill>
                <a:latin typeface="Arial" pitchFamily="34" charset="0"/>
                <a:ea typeface="Arial" pitchFamily="34" charset="-122"/>
                <a:cs typeface="Arial" pitchFamily="34" charset="-120"/>
              </a:rPr>
              <a:t>$497</a:t>
            </a:r>
            <a:endParaRPr lang="en-US" sz="1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463040"/>
            <a:ext cx="10607040" cy="914400"/>
          </a:xfrm>
          <a:prstGeom prst="rect">
            <a:avLst/>
          </a:prstGeom>
          <a:noFill/>
          <a:ln/>
        </p:spPr>
        <p:txBody>
          <a:bodyPr wrap="square" lIns="0" tIns="0" rIns="0" bIns="0" rtlCol="0" anchor="ctr"/>
          <a:lstStyle/>
          <a:p>
            <a:pPr indent="0" marL="0">
              <a:buNone/>
            </a:pPr>
            <a:r>
              <a:rPr lang="en-US" sz="6400" b="1" strike="sngStrike" dirty="0">
                <a:solidFill>
                  <a:srgbClr val="6B7280"/>
                </a:solidFill>
                <a:latin typeface="Arial" pitchFamily="34" charset="0"/>
                <a:ea typeface="Arial" pitchFamily="34" charset="-122"/>
                <a:cs typeface="Arial" pitchFamily="34" charset="-120"/>
              </a:rPr>
              <a:t>$497</a:t>
            </a:r>
            <a:endParaRPr lang="en-US" sz="6400" dirty="0"/>
          </a:p>
        </p:txBody>
      </p:sp>
      <p:sp>
        <p:nvSpPr>
          <p:cNvPr id="6" name="Text 4"/>
          <p:cNvSpPr txBox="1"/>
          <p:nvPr/>
        </p:nvSpPr>
        <p:spPr>
          <a:xfrm>
            <a:off x="777240" y="2514600"/>
            <a:ext cx="10607040" cy="1737360"/>
          </a:xfrm>
          <a:prstGeom prst="rect">
            <a:avLst/>
          </a:prstGeom>
          <a:noFill/>
          <a:ln/>
        </p:spPr>
        <p:txBody>
          <a:bodyPr wrap="square" lIns="0" tIns="0" rIns="0" bIns="0" rtlCol="0" anchor="ctr"/>
          <a:lstStyle/>
          <a:p>
            <a:pPr indent="0" marL="0">
              <a:buNone/>
            </a:pPr>
            <a:r>
              <a:rPr lang="en-US" sz="12000" b="1" dirty="0">
                <a:solidFill>
                  <a:srgbClr val="FFFFFF"/>
                </a:solidFill>
                <a:latin typeface="Arial" pitchFamily="34" charset="0"/>
                <a:ea typeface="Arial" pitchFamily="34" charset="-122"/>
                <a:cs typeface="Arial" pitchFamily="34" charset="-120"/>
              </a:rPr>
              <a:t>$247</a:t>
            </a:r>
            <a:endParaRPr lang="en-US" sz="1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463040"/>
            <a:ext cx="10607040" cy="914400"/>
          </a:xfrm>
          <a:prstGeom prst="rect">
            <a:avLst/>
          </a:prstGeom>
          <a:noFill/>
          <a:ln/>
        </p:spPr>
        <p:txBody>
          <a:bodyPr wrap="square" lIns="0" tIns="0" rIns="0" bIns="0" rtlCol="0" anchor="ctr"/>
          <a:lstStyle/>
          <a:p>
            <a:pPr indent="0" marL="0">
              <a:buNone/>
            </a:pPr>
            <a:r>
              <a:rPr lang="en-US" sz="6400" b="1" strike="sngStrike" dirty="0">
                <a:solidFill>
                  <a:srgbClr val="6B7280"/>
                </a:solidFill>
                <a:latin typeface="Arial" pitchFamily="34" charset="0"/>
                <a:ea typeface="Arial" pitchFamily="34" charset="-122"/>
                <a:cs typeface="Arial" pitchFamily="34" charset="-120"/>
              </a:rPr>
              <a:t>$247</a:t>
            </a:r>
            <a:endParaRPr lang="en-US" sz="6400" dirty="0"/>
          </a:p>
        </p:txBody>
      </p:sp>
      <p:sp>
        <p:nvSpPr>
          <p:cNvPr id="6" name="Text 4"/>
          <p:cNvSpPr txBox="1"/>
          <p:nvPr/>
        </p:nvSpPr>
        <p:spPr>
          <a:xfrm>
            <a:off x="777240" y="2514600"/>
            <a:ext cx="10607040" cy="1737360"/>
          </a:xfrm>
          <a:prstGeom prst="rect">
            <a:avLst/>
          </a:prstGeom>
          <a:noFill/>
          <a:ln/>
        </p:spPr>
        <p:txBody>
          <a:bodyPr wrap="square" lIns="0" tIns="0" rIns="0" bIns="0" rtlCol="0" anchor="ctr"/>
          <a:lstStyle/>
          <a:p>
            <a:pPr indent="0" marL="0">
              <a:buNone/>
            </a:pPr>
            <a:r>
              <a:rPr lang="en-US" sz="7400" b="1" dirty="0">
                <a:solidFill>
                  <a:srgbClr val="2ECC34"/>
                </a:solidFill>
                <a:latin typeface="Arial" pitchFamily="34" charset="0"/>
                <a:ea typeface="Arial" pitchFamily="34" charset="-122"/>
                <a:cs typeface="Arial" pitchFamily="34" charset="-120"/>
              </a:rPr>
              <a:t>$1 TO GET STARTED</a:t>
            </a:r>
            <a:endParaRPr lang="en-US" sz="7400" dirty="0"/>
          </a:p>
        </p:txBody>
      </p:sp>
      <p:sp>
        <p:nvSpPr>
          <p:cNvPr id="7" name="Text 5"/>
          <p:cNvSpPr txBox="1"/>
          <p:nvPr/>
        </p:nvSpPr>
        <p:spPr>
          <a:xfrm>
            <a:off x="777240" y="4343400"/>
            <a:ext cx="10607040" cy="640080"/>
          </a:xfrm>
          <a:prstGeom prst="rect">
            <a:avLst/>
          </a:prstGeom>
          <a:noFill/>
          <a:ln/>
        </p:spPr>
        <p:txBody>
          <a:bodyPr wrap="square" lIns="0" tIns="0" rIns="0" bIns="0" rtlCol="0" anchor="ctr"/>
          <a:lstStyle/>
          <a:p>
            <a:pPr indent="0" marL="0">
              <a:buNone/>
            </a:pPr>
            <a:r>
              <a:rPr lang="en-US" sz="2800" dirty="0">
                <a:solidFill>
                  <a:srgbClr val="C9CFD6"/>
                </a:solidFill>
                <a:latin typeface="Calibri" pitchFamily="34" charset="0"/>
                <a:ea typeface="Calibri" pitchFamily="34" charset="-122"/>
                <a:cs typeface="Calibri" pitchFamily="34" charset="-120"/>
              </a:rPr>
              <a:t>7 days, then $97/month</a:t>
            </a:r>
            <a:endParaRPr lang="en-US" sz="2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you're</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getting started tonight.</a:t>
            </a:r>
            <a:endParaRPr lang="en-US" sz="4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WHAT HAPPENS IN THOSE 7 DAYS</a:t>
            </a:r>
            <a:endParaRPr lang="en-US" sz="4000" dirty="0"/>
          </a:p>
        </p:txBody>
      </p:sp>
      <p:sp>
        <p:nvSpPr>
          <p:cNvPr id="6" name="Shape 4"/>
          <p:cNvSpPr/>
          <p:nvPr/>
        </p:nvSpPr>
        <p:spPr>
          <a:xfrm>
            <a:off x="777240" y="2331720"/>
            <a:ext cx="10607040" cy="640080"/>
          </a:xfrm>
          <a:prstGeom prst="roundRect">
            <a:avLst>
              <a:gd name="adj" fmla="val 14286"/>
            </a:avLst>
          </a:prstGeom>
          <a:solidFill>
            <a:srgbClr val="FFFFFF"/>
          </a:solidFill>
          <a:ln w="12700">
            <a:solidFill>
              <a:srgbClr val="DFE3E7"/>
            </a:solidFill>
            <a:prstDash val="solid"/>
          </a:ln>
        </p:spPr>
      </p:sp>
      <p:sp>
        <p:nvSpPr>
          <p:cNvPr id="7" name="Shape 5"/>
          <p:cNvSpPr/>
          <p:nvPr/>
        </p:nvSpPr>
        <p:spPr>
          <a:xfrm>
            <a:off x="996696" y="2450592"/>
            <a:ext cx="402336" cy="402336"/>
          </a:xfrm>
          <a:prstGeom prst="ellipse">
            <a:avLst/>
          </a:prstGeom>
          <a:solidFill>
            <a:srgbClr val="0A0A0C"/>
          </a:solidFill>
          <a:ln/>
        </p:spPr>
      </p:sp>
      <p:sp>
        <p:nvSpPr>
          <p:cNvPr id="8" name="Text 6"/>
          <p:cNvSpPr txBox="1"/>
          <p:nvPr/>
        </p:nvSpPr>
        <p:spPr>
          <a:xfrm>
            <a:off x="996696" y="245059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618488" y="2331720"/>
            <a:ext cx="9418320" cy="64008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Tonight: upload your report</a:t>
            </a:r>
            <a:endParaRPr lang="en-US" sz="1900" dirty="0"/>
          </a:p>
        </p:txBody>
      </p:sp>
      <p:sp>
        <p:nvSpPr>
          <p:cNvPr id="10" name="Shape 8"/>
          <p:cNvSpPr/>
          <p:nvPr/>
        </p:nvSpPr>
        <p:spPr>
          <a:xfrm>
            <a:off x="777240" y="3099816"/>
            <a:ext cx="10607040" cy="640080"/>
          </a:xfrm>
          <a:prstGeom prst="roundRect">
            <a:avLst>
              <a:gd name="adj" fmla="val 14286"/>
            </a:avLst>
          </a:prstGeom>
          <a:solidFill>
            <a:srgbClr val="FFFFFF"/>
          </a:solidFill>
          <a:ln w="12700">
            <a:solidFill>
              <a:srgbClr val="DFE3E7"/>
            </a:solidFill>
            <a:prstDash val="solid"/>
          </a:ln>
        </p:spPr>
      </p:sp>
      <p:sp>
        <p:nvSpPr>
          <p:cNvPr id="11" name="Shape 9"/>
          <p:cNvSpPr/>
          <p:nvPr/>
        </p:nvSpPr>
        <p:spPr>
          <a:xfrm>
            <a:off x="996696" y="3218688"/>
            <a:ext cx="402336" cy="402336"/>
          </a:xfrm>
          <a:prstGeom prst="ellipse">
            <a:avLst/>
          </a:prstGeom>
          <a:solidFill>
            <a:srgbClr val="0A0A0C"/>
          </a:solidFill>
          <a:ln/>
        </p:spPr>
      </p:sp>
      <p:sp>
        <p:nvSpPr>
          <p:cNvPr id="12" name="Text 10"/>
          <p:cNvSpPr txBox="1"/>
          <p:nvPr/>
        </p:nvSpPr>
        <p:spPr>
          <a:xfrm>
            <a:off x="996696" y="321868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618488" y="3099816"/>
            <a:ext cx="9418320" cy="64008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Tonight: run the Blueprint</a:t>
            </a:r>
            <a:endParaRPr lang="en-US" sz="1900" dirty="0"/>
          </a:p>
        </p:txBody>
      </p:sp>
      <p:sp>
        <p:nvSpPr>
          <p:cNvPr id="14" name="Shape 12"/>
          <p:cNvSpPr/>
          <p:nvPr/>
        </p:nvSpPr>
        <p:spPr>
          <a:xfrm>
            <a:off x="777240" y="3867912"/>
            <a:ext cx="10607040" cy="640080"/>
          </a:xfrm>
          <a:prstGeom prst="roundRect">
            <a:avLst>
              <a:gd name="adj" fmla="val 14286"/>
            </a:avLst>
          </a:prstGeom>
          <a:solidFill>
            <a:srgbClr val="FFFFFF"/>
          </a:solidFill>
          <a:ln w="12700">
            <a:solidFill>
              <a:srgbClr val="DFE3E7"/>
            </a:solidFill>
            <a:prstDash val="solid"/>
          </a:ln>
        </p:spPr>
      </p:sp>
      <p:sp>
        <p:nvSpPr>
          <p:cNvPr id="15" name="Shape 13"/>
          <p:cNvSpPr/>
          <p:nvPr/>
        </p:nvSpPr>
        <p:spPr>
          <a:xfrm>
            <a:off x="996696" y="3986784"/>
            <a:ext cx="402336" cy="402336"/>
          </a:xfrm>
          <a:prstGeom prst="ellipse">
            <a:avLst/>
          </a:prstGeom>
          <a:solidFill>
            <a:srgbClr val="0A0A0C"/>
          </a:solidFill>
          <a:ln/>
        </p:spPr>
      </p:sp>
      <p:sp>
        <p:nvSpPr>
          <p:cNvPr id="16" name="Text 14"/>
          <p:cNvSpPr txBox="1"/>
          <p:nvPr/>
        </p:nvSpPr>
        <p:spPr>
          <a:xfrm>
            <a:off x="996696" y="398678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618488" y="3867912"/>
            <a:ext cx="9418320" cy="64008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Tonight: see your ten lines</a:t>
            </a:r>
            <a:endParaRPr lang="en-US" sz="1900" dirty="0"/>
          </a:p>
        </p:txBody>
      </p:sp>
      <p:sp>
        <p:nvSpPr>
          <p:cNvPr id="18" name="Shape 16"/>
          <p:cNvSpPr/>
          <p:nvPr/>
        </p:nvSpPr>
        <p:spPr>
          <a:xfrm>
            <a:off x="777240" y="4636008"/>
            <a:ext cx="10607040" cy="640080"/>
          </a:xfrm>
          <a:prstGeom prst="roundRect">
            <a:avLst>
              <a:gd name="adj" fmla="val 14286"/>
            </a:avLst>
          </a:prstGeom>
          <a:solidFill>
            <a:srgbClr val="FFFFFF"/>
          </a:solidFill>
          <a:ln w="12700">
            <a:solidFill>
              <a:srgbClr val="DFE3E7"/>
            </a:solidFill>
            <a:prstDash val="solid"/>
          </a:ln>
        </p:spPr>
      </p:sp>
      <p:sp>
        <p:nvSpPr>
          <p:cNvPr id="19" name="Shape 17"/>
          <p:cNvSpPr/>
          <p:nvPr/>
        </p:nvSpPr>
        <p:spPr>
          <a:xfrm>
            <a:off x="996696" y="4754880"/>
            <a:ext cx="402336" cy="402336"/>
          </a:xfrm>
          <a:prstGeom prst="ellipse">
            <a:avLst/>
          </a:prstGeom>
          <a:solidFill>
            <a:srgbClr val="0A0A0C"/>
          </a:solidFill>
          <a:ln/>
        </p:spPr>
      </p:sp>
      <p:sp>
        <p:nvSpPr>
          <p:cNvPr id="20" name="Text 18"/>
          <p:cNvSpPr txBox="1"/>
          <p:nvPr/>
        </p:nvSpPr>
        <p:spPr>
          <a:xfrm>
            <a:off x="996696" y="4754880"/>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1" name="Text 19"/>
          <p:cNvSpPr txBox="1"/>
          <p:nvPr/>
        </p:nvSpPr>
        <p:spPr>
          <a:xfrm>
            <a:off x="1618488" y="4636008"/>
            <a:ext cx="9418320" cy="640080"/>
          </a:xfrm>
          <a:prstGeom prst="rect">
            <a:avLst/>
          </a:prstGeom>
          <a:noFill/>
          <a:ln/>
        </p:spPr>
        <p:txBody>
          <a:bodyPr wrap="square" lIns="0" tIns="0" rIns="0" bIns="0" rtlCol="0" anchor="ctr"/>
          <a:lstStyle/>
          <a:p>
            <a:pPr indent="0" marL="0">
              <a:buNone/>
            </a:pPr>
            <a:r>
              <a:rPr lang="en-US" sz="1900" dirty="0">
                <a:solidFill>
                  <a:srgbClr val="2A2E33"/>
                </a:solidFill>
                <a:latin typeface="Calibri" pitchFamily="34" charset="0"/>
                <a:ea typeface="Calibri" pitchFamily="34" charset="-122"/>
                <a:cs typeface="Calibri" pitchFamily="34" charset="-120"/>
              </a:rPr>
              <a:t>This week: know whether you're eligible — before you apply to anything else</a:t>
            </a:r>
            <a:endParaRPr lang="en-US" sz="1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WHO THIS IS FOR</a:t>
            </a:r>
            <a:endParaRPr lang="en-US" sz="4000" dirty="0"/>
          </a:p>
        </p:txBody>
      </p:sp>
      <p:sp>
        <p:nvSpPr>
          <p:cNvPr id="6" name="Shape 4"/>
          <p:cNvSpPr/>
          <p:nvPr/>
        </p:nvSpPr>
        <p:spPr>
          <a:xfrm>
            <a:off x="777240" y="2331720"/>
            <a:ext cx="10607040" cy="513588"/>
          </a:xfrm>
          <a:prstGeom prst="roundRect">
            <a:avLst>
              <a:gd name="adj" fmla="val 17804"/>
            </a:avLst>
          </a:prstGeom>
          <a:solidFill>
            <a:srgbClr val="FFFFFF"/>
          </a:solidFill>
          <a:ln w="12700">
            <a:solidFill>
              <a:srgbClr val="DFE3E7"/>
            </a:solidFill>
            <a:prstDash val="solid"/>
          </a:ln>
        </p:spPr>
      </p:sp>
      <p:sp>
        <p:nvSpPr>
          <p:cNvPr id="7" name="Text 5"/>
          <p:cNvSpPr txBox="1"/>
          <p:nvPr/>
        </p:nvSpPr>
        <p:spPr>
          <a:xfrm>
            <a:off x="1161288" y="2331720"/>
            <a:ext cx="98755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You've been denied and never got a real answer</a:t>
            </a:r>
            <a:endParaRPr lang="en-US" sz="1800" dirty="0"/>
          </a:p>
        </p:txBody>
      </p:sp>
      <p:sp>
        <p:nvSpPr>
          <p:cNvPr id="8" name="Shape 6"/>
          <p:cNvSpPr/>
          <p:nvPr/>
        </p:nvSpPr>
        <p:spPr>
          <a:xfrm>
            <a:off x="777240" y="2973324"/>
            <a:ext cx="10607040" cy="513588"/>
          </a:xfrm>
          <a:prstGeom prst="roundRect">
            <a:avLst>
              <a:gd name="adj" fmla="val 17804"/>
            </a:avLst>
          </a:prstGeom>
          <a:solidFill>
            <a:srgbClr val="FFFFFF"/>
          </a:solidFill>
          <a:ln w="12700">
            <a:solidFill>
              <a:srgbClr val="DFE3E7"/>
            </a:solidFill>
            <a:prstDash val="solid"/>
          </a:ln>
        </p:spPr>
      </p:sp>
      <p:sp>
        <p:nvSpPr>
          <p:cNvPr id="9" name="Text 7"/>
          <p:cNvSpPr txBox="1"/>
          <p:nvPr/>
        </p:nvSpPr>
        <p:spPr>
          <a:xfrm>
            <a:off x="1161288" y="2973324"/>
            <a:ext cx="98755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You're about to apply for something that matters</a:t>
            </a:r>
            <a:endParaRPr lang="en-US" sz="1800" dirty="0"/>
          </a:p>
        </p:txBody>
      </p:sp>
      <p:sp>
        <p:nvSpPr>
          <p:cNvPr id="10" name="Shape 8"/>
          <p:cNvSpPr/>
          <p:nvPr/>
        </p:nvSpPr>
        <p:spPr>
          <a:xfrm>
            <a:off x="777240" y="3614928"/>
            <a:ext cx="10607040" cy="513588"/>
          </a:xfrm>
          <a:prstGeom prst="roundRect">
            <a:avLst>
              <a:gd name="adj" fmla="val 17804"/>
            </a:avLst>
          </a:prstGeom>
          <a:solidFill>
            <a:srgbClr val="FFFFFF"/>
          </a:solidFill>
          <a:ln w="12700">
            <a:solidFill>
              <a:srgbClr val="DFE3E7"/>
            </a:solidFill>
            <a:prstDash val="solid"/>
          </a:ln>
        </p:spPr>
      </p:sp>
      <p:sp>
        <p:nvSpPr>
          <p:cNvPr id="11" name="Text 9"/>
          <p:cNvSpPr txBox="1"/>
          <p:nvPr/>
        </p:nvSpPr>
        <p:spPr>
          <a:xfrm>
            <a:off x="1161288" y="3614928"/>
            <a:ext cx="98755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You're fixing your file and want the work tracked</a:t>
            </a:r>
            <a:endParaRPr lang="en-US" sz="1800" dirty="0"/>
          </a:p>
        </p:txBody>
      </p:sp>
      <p:sp>
        <p:nvSpPr>
          <p:cNvPr id="12" name="Shape 10"/>
          <p:cNvSpPr/>
          <p:nvPr/>
        </p:nvSpPr>
        <p:spPr>
          <a:xfrm>
            <a:off x="777240" y="4256532"/>
            <a:ext cx="10607040" cy="513588"/>
          </a:xfrm>
          <a:prstGeom prst="roundRect">
            <a:avLst>
              <a:gd name="adj" fmla="val 17804"/>
            </a:avLst>
          </a:prstGeom>
          <a:solidFill>
            <a:srgbClr val="FFFFFF"/>
          </a:solidFill>
          <a:ln w="12700">
            <a:solidFill>
              <a:srgbClr val="DFE3E7"/>
            </a:solidFill>
            <a:prstDash val="solid"/>
          </a:ln>
        </p:spPr>
      </p:sp>
      <p:sp>
        <p:nvSpPr>
          <p:cNvPr id="13" name="Text 11"/>
          <p:cNvSpPr txBox="1"/>
          <p:nvPr/>
        </p:nvSpPr>
        <p:spPr>
          <a:xfrm>
            <a:off x="1161288" y="4256532"/>
            <a:ext cx="98755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You want to start a credit repair business</a:t>
            </a:r>
            <a:endParaRPr lang="en-US" sz="1800" dirty="0"/>
          </a:p>
        </p:txBody>
      </p:sp>
      <p:sp>
        <p:nvSpPr>
          <p:cNvPr id="14" name="Shape 12"/>
          <p:cNvSpPr/>
          <p:nvPr/>
        </p:nvSpPr>
        <p:spPr>
          <a:xfrm>
            <a:off x="777240" y="4898136"/>
            <a:ext cx="10607040" cy="513588"/>
          </a:xfrm>
          <a:prstGeom prst="roundRect">
            <a:avLst>
              <a:gd name="adj" fmla="val 17804"/>
            </a:avLst>
          </a:prstGeom>
          <a:solidFill>
            <a:srgbClr val="FFFFFF"/>
          </a:solidFill>
          <a:ln w="12700">
            <a:solidFill>
              <a:srgbClr val="DFE3E7"/>
            </a:solidFill>
            <a:prstDash val="solid"/>
          </a:ln>
        </p:spPr>
      </p:sp>
      <p:sp>
        <p:nvSpPr>
          <p:cNvPr id="15" name="Text 13"/>
          <p:cNvSpPr txBox="1"/>
          <p:nvPr/>
        </p:nvSpPr>
        <p:spPr>
          <a:xfrm>
            <a:off x="1161288" y="4898136"/>
            <a:ext cx="98755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You want to start a funding business</a:t>
            </a:r>
            <a:endParaRPr lang="en-US" sz="1800" dirty="0"/>
          </a:p>
        </p:txBody>
      </p:sp>
      <p:sp>
        <p:nvSpPr>
          <p:cNvPr id="16" name="Shape 14"/>
          <p:cNvSpPr/>
          <p:nvPr/>
        </p:nvSpPr>
        <p:spPr>
          <a:xfrm>
            <a:off x="777240" y="5539740"/>
            <a:ext cx="10607040" cy="513588"/>
          </a:xfrm>
          <a:prstGeom prst="roundRect">
            <a:avLst>
              <a:gd name="adj" fmla="val 17804"/>
            </a:avLst>
          </a:prstGeom>
          <a:solidFill>
            <a:srgbClr val="FFFFFF"/>
          </a:solidFill>
          <a:ln w="12700">
            <a:solidFill>
              <a:srgbClr val="DFE3E7"/>
            </a:solidFill>
            <a:prstDash val="solid"/>
          </a:ln>
        </p:spPr>
      </p:sp>
      <p:sp>
        <p:nvSpPr>
          <p:cNvPr id="17" name="Text 15"/>
          <p:cNvSpPr txBox="1"/>
          <p:nvPr/>
        </p:nvSpPr>
        <p:spPr>
          <a:xfrm>
            <a:off x="1161288" y="5539740"/>
            <a:ext cx="9875520" cy="513588"/>
          </a:xfrm>
          <a:prstGeom prst="rect">
            <a:avLst/>
          </a:prstGeom>
          <a:noFill/>
          <a:ln/>
        </p:spPr>
        <p:txBody>
          <a:bodyPr wrap="square" lIns="0" tIns="0" rIns="0" bIns="0" rtlCol="0" anchor="ctr"/>
          <a:lstStyle/>
          <a:p>
            <a:pPr indent="0" marL="0">
              <a:buNone/>
            </a:pPr>
            <a:r>
              <a:rPr lang="en-US" sz="1800" dirty="0">
                <a:solidFill>
                  <a:srgbClr val="2A2E33"/>
                </a:solidFill>
                <a:latin typeface="Calibri" pitchFamily="34" charset="0"/>
                <a:ea typeface="Calibri" pitchFamily="34" charset="-122"/>
                <a:cs typeface="Calibri" pitchFamily="34" charset="-120"/>
              </a:rPr>
              <a:t>You want to refer it and earn</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WHO THIS ISN'T FOR</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Text 5"/>
          <p:cNvSpPr txBox="1"/>
          <p:nvPr/>
        </p:nvSpPr>
        <p:spPr>
          <a:xfrm>
            <a:off x="1161288" y="2331720"/>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Anyone looking for a guaranteed approval</a:t>
            </a:r>
            <a:endParaRPr lang="en-US" sz="2100" dirty="0"/>
          </a:p>
        </p:txBody>
      </p:sp>
      <p:sp>
        <p:nvSpPr>
          <p:cNvPr id="8" name="Shape 6"/>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9" name="Text 7"/>
          <p:cNvSpPr txBox="1"/>
          <p:nvPr/>
        </p:nvSpPr>
        <p:spPr>
          <a:xfrm>
            <a:off x="1161288" y="3236976"/>
            <a:ext cx="98755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Anyone who wants someone else to care about their file more than they do</a:t>
            </a:r>
            <a:endParaRPr lang="en-US" sz="2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777240" y="868680"/>
            <a:ext cx="155448" cy="155448"/>
          </a:xfrm>
          <a:prstGeom prst="ellipse">
            <a:avLst/>
          </a:prstGeom>
          <a:solidFill>
            <a:srgbClr val="D61A20"/>
          </a:solidFill>
          <a:ln/>
        </p:spPr>
      </p:sp>
      <p:sp>
        <p:nvSpPr>
          <p:cNvPr id="3" name="Shape 1"/>
          <p:cNvSpPr/>
          <p:nvPr/>
        </p:nvSpPr>
        <p:spPr>
          <a:xfrm>
            <a:off x="1033272" y="868680"/>
            <a:ext cx="155448" cy="155448"/>
          </a:xfrm>
          <a:prstGeom prst="ellipse">
            <a:avLst/>
          </a:prstGeom>
          <a:solidFill>
            <a:srgbClr val="D6A83A"/>
          </a:solidFill>
          <a:ln/>
        </p:spPr>
      </p:sp>
      <p:sp>
        <p:nvSpPr>
          <p:cNvPr id="4" name="Shape 2"/>
          <p:cNvSpPr/>
          <p:nvPr/>
        </p:nvSpPr>
        <p:spPr>
          <a:xfrm>
            <a:off x="1289304" y="868680"/>
            <a:ext cx="155448" cy="155448"/>
          </a:xfrm>
          <a:prstGeom prst="ellipse">
            <a:avLst/>
          </a:prstGeom>
          <a:solidFill>
            <a:srgbClr val="2ECC34"/>
          </a:solidFill>
          <a:ln/>
        </p:spPr>
      </p:sp>
      <p:sp>
        <p:nvSpPr>
          <p:cNvPr id="5" name="Text 3"/>
          <p:cNvSpPr txBox="1"/>
          <p:nvPr/>
        </p:nvSpPr>
        <p:spPr>
          <a:xfrm>
            <a:off x="777240" y="1234440"/>
            <a:ext cx="10607040" cy="914400"/>
          </a:xfrm>
          <a:prstGeom prst="rect">
            <a:avLst/>
          </a:prstGeom>
          <a:noFill/>
          <a:ln/>
        </p:spPr>
        <p:txBody>
          <a:bodyPr wrap="square" lIns="0" tIns="0" rIns="0" bIns="0" rtlCol="0" anchor="ctr"/>
          <a:lstStyle/>
          <a:p>
            <a:pPr algn="l" indent="0" marL="0">
              <a:lnSpc>
                <a:spcPts val="5200"/>
              </a:lnSpc>
              <a:buNone/>
            </a:pPr>
            <a:r>
              <a:rPr lang="en-US" sz="4000" b="1" dirty="0">
                <a:solidFill>
                  <a:srgbClr val="0A0A0C"/>
                </a:solidFill>
                <a:latin typeface="Arial" pitchFamily="34" charset="0"/>
                <a:ea typeface="Arial" pitchFamily="34" charset="-122"/>
                <a:cs typeface="Arial" pitchFamily="34" charset="-120"/>
              </a:rPr>
              <a:t>HOW TO START</a:t>
            </a:r>
            <a:endParaRPr lang="en-US" sz="4000" dirty="0"/>
          </a:p>
        </p:txBody>
      </p:sp>
      <p:sp>
        <p:nvSpPr>
          <p:cNvPr id="6" name="Shape 4"/>
          <p:cNvSpPr/>
          <p:nvPr/>
        </p:nvSpPr>
        <p:spPr>
          <a:xfrm>
            <a:off x="777240" y="2331720"/>
            <a:ext cx="10607040" cy="777240"/>
          </a:xfrm>
          <a:prstGeom prst="roundRect">
            <a:avLst>
              <a:gd name="adj" fmla="val 11765"/>
            </a:avLst>
          </a:prstGeom>
          <a:solidFill>
            <a:srgbClr val="FFFFFF"/>
          </a:solidFill>
          <a:ln w="12700">
            <a:solidFill>
              <a:srgbClr val="DFE3E7"/>
            </a:solidFill>
            <a:prstDash val="solid"/>
          </a:ln>
        </p:spPr>
      </p:sp>
      <p:sp>
        <p:nvSpPr>
          <p:cNvPr id="7" name="Shape 5"/>
          <p:cNvSpPr/>
          <p:nvPr/>
        </p:nvSpPr>
        <p:spPr>
          <a:xfrm>
            <a:off x="996696" y="2519172"/>
            <a:ext cx="402336" cy="402336"/>
          </a:xfrm>
          <a:prstGeom prst="ellipse">
            <a:avLst/>
          </a:prstGeom>
          <a:solidFill>
            <a:srgbClr val="0A0A0C"/>
          </a:solidFill>
          <a:ln/>
        </p:spPr>
      </p:sp>
      <p:sp>
        <p:nvSpPr>
          <p:cNvPr id="8" name="Text 6"/>
          <p:cNvSpPr txBox="1"/>
          <p:nvPr/>
        </p:nvSpPr>
        <p:spPr>
          <a:xfrm>
            <a:off x="996696" y="251917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618488" y="2331720"/>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Click the link</a:t>
            </a:r>
            <a:endParaRPr lang="en-US" sz="2100" dirty="0"/>
          </a:p>
        </p:txBody>
      </p:sp>
      <p:sp>
        <p:nvSpPr>
          <p:cNvPr id="10" name="Shape 8"/>
          <p:cNvSpPr/>
          <p:nvPr/>
        </p:nvSpPr>
        <p:spPr>
          <a:xfrm>
            <a:off x="777240" y="3236976"/>
            <a:ext cx="10607040" cy="777240"/>
          </a:xfrm>
          <a:prstGeom prst="roundRect">
            <a:avLst>
              <a:gd name="adj" fmla="val 11765"/>
            </a:avLst>
          </a:prstGeom>
          <a:solidFill>
            <a:srgbClr val="FFFFFF"/>
          </a:solidFill>
          <a:ln w="12700">
            <a:solidFill>
              <a:srgbClr val="DFE3E7"/>
            </a:solidFill>
            <a:prstDash val="solid"/>
          </a:ln>
        </p:spPr>
      </p:sp>
      <p:sp>
        <p:nvSpPr>
          <p:cNvPr id="11" name="Shape 9"/>
          <p:cNvSpPr/>
          <p:nvPr/>
        </p:nvSpPr>
        <p:spPr>
          <a:xfrm>
            <a:off x="996696" y="3424428"/>
            <a:ext cx="402336" cy="402336"/>
          </a:xfrm>
          <a:prstGeom prst="ellipse">
            <a:avLst/>
          </a:prstGeom>
          <a:solidFill>
            <a:srgbClr val="0A0A0C"/>
          </a:solidFill>
          <a:ln/>
        </p:spPr>
      </p:sp>
      <p:sp>
        <p:nvSpPr>
          <p:cNvPr id="12" name="Text 10"/>
          <p:cNvSpPr txBox="1"/>
          <p:nvPr/>
        </p:nvSpPr>
        <p:spPr>
          <a:xfrm>
            <a:off x="996696" y="342442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618488" y="3236976"/>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Create your account — $1</a:t>
            </a:r>
            <a:endParaRPr lang="en-US" sz="2100" dirty="0"/>
          </a:p>
        </p:txBody>
      </p:sp>
      <p:sp>
        <p:nvSpPr>
          <p:cNvPr id="14" name="Shape 12"/>
          <p:cNvSpPr/>
          <p:nvPr/>
        </p:nvSpPr>
        <p:spPr>
          <a:xfrm>
            <a:off x="777240" y="4142232"/>
            <a:ext cx="10607040" cy="777240"/>
          </a:xfrm>
          <a:prstGeom prst="roundRect">
            <a:avLst>
              <a:gd name="adj" fmla="val 11765"/>
            </a:avLst>
          </a:prstGeom>
          <a:solidFill>
            <a:srgbClr val="FFFFFF"/>
          </a:solidFill>
          <a:ln w="12700">
            <a:solidFill>
              <a:srgbClr val="DFE3E7"/>
            </a:solidFill>
            <a:prstDash val="solid"/>
          </a:ln>
        </p:spPr>
      </p:sp>
      <p:sp>
        <p:nvSpPr>
          <p:cNvPr id="15" name="Shape 13"/>
          <p:cNvSpPr/>
          <p:nvPr/>
        </p:nvSpPr>
        <p:spPr>
          <a:xfrm>
            <a:off x="996696" y="4329684"/>
            <a:ext cx="402336" cy="402336"/>
          </a:xfrm>
          <a:prstGeom prst="ellipse">
            <a:avLst/>
          </a:prstGeom>
          <a:solidFill>
            <a:srgbClr val="0A0A0C"/>
          </a:solidFill>
          <a:ln/>
        </p:spPr>
      </p:sp>
      <p:sp>
        <p:nvSpPr>
          <p:cNvPr id="16" name="Text 14"/>
          <p:cNvSpPr txBox="1"/>
          <p:nvPr/>
        </p:nvSpPr>
        <p:spPr>
          <a:xfrm>
            <a:off x="996696" y="432968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618488" y="4142232"/>
            <a:ext cx="9418320" cy="777240"/>
          </a:xfrm>
          <a:prstGeom prst="rect">
            <a:avLst/>
          </a:prstGeom>
          <a:noFill/>
          <a:ln/>
        </p:spPr>
        <p:txBody>
          <a:bodyPr wrap="square" lIns="0" tIns="0" rIns="0" bIns="0" rtlCol="0" anchor="ctr"/>
          <a:lstStyle/>
          <a:p>
            <a:pPr indent="0" marL="0">
              <a:buNone/>
            </a:pPr>
            <a:r>
              <a:rPr lang="en-US" sz="2100" dirty="0">
                <a:solidFill>
                  <a:srgbClr val="2A2E33"/>
                </a:solidFill>
                <a:latin typeface="Calibri" pitchFamily="34" charset="0"/>
                <a:ea typeface="Calibri" pitchFamily="34" charset="-122"/>
                <a:cs typeface="Calibri" pitchFamily="34" charset="-120"/>
              </a:rPr>
              <a:t>Upload your report tonight</a:t>
            </a:r>
            <a:endParaRPr lang="en-US" sz="2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777240" y="1051560"/>
            <a:ext cx="155448" cy="155448"/>
          </a:xfrm>
          <a:prstGeom prst="ellipse">
            <a:avLst/>
          </a:prstGeom>
          <a:solidFill>
            <a:srgbClr val="D61A20"/>
          </a:solidFill>
          <a:ln/>
        </p:spPr>
      </p:sp>
      <p:sp>
        <p:nvSpPr>
          <p:cNvPr id="3" name="Shape 1"/>
          <p:cNvSpPr/>
          <p:nvPr/>
        </p:nvSpPr>
        <p:spPr>
          <a:xfrm>
            <a:off x="1033272" y="1051560"/>
            <a:ext cx="155448" cy="155448"/>
          </a:xfrm>
          <a:prstGeom prst="ellipse">
            <a:avLst/>
          </a:prstGeom>
          <a:solidFill>
            <a:srgbClr val="D6A83A"/>
          </a:solidFill>
          <a:ln/>
        </p:spPr>
      </p:sp>
      <p:sp>
        <p:nvSpPr>
          <p:cNvPr id="4" name="Shape 2"/>
          <p:cNvSpPr/>
          <p:nvPr/>
        </p:nvSpPr>
        <p:spPr>
          <a:xfrm>
            <a:off x="1289304" y="1051560"/>
            <a:ext cx="155448" cy="155448"/>
          </a:xfrm>
          <a:prstGeom prst="ellipse">
            <a:avLst/>
          </a:prstGeom>
          <a:solidFill>
            <a:srgbClr val="2ECC34"/>
          </a:solidFill>
          <a:ln/>
        </p:spPr>
      </p:sp>
      <p:sp>
        <p:nvSpPr>
          <p:cNvPr id="5" name="Text 3"/>
          <p:cNvSpPr txBox="1"/>
          <p:nvPr/>
        </p:nvSpPr>
        <p:spPr>
          <a:xfrm>
            <a:off x="777240" y="1463040"/>
            <a:ext cx="10607040" cy="2468880"/>
          </a:xfrm>
          <a:prstGeom prst="rect">
            <a:avLst/>
          </a:prstGeom>
          <a:noFill/>
          <a:ln/>
        </p:spPr>
        <p:txBody>
          <a:bodyPr wrap="square" lIns="0" tIns="0" rIns="0" bIns="0" rtlCol="0" anchor="ctr"/>
          <a:lstStyle/>
          <a:p>
            <a:pPr indent="0" marL="0">
              <a:lnSpc>
                <a:spcPts val="6400"/>
              </a:lnSpc>
              <a:buNone/>
            </a:pPr>
            <a:r>
              <a:rPr lang="en-US" sz="5200" b="1" dirty="0">
                <a:solidFill>
                  <a:srgbClr val="FFFFFF"/>
                </a:solidFill>
                <a:latin typeface="Arial" pitchFamily="34" charset="0"/>
                <a:ea typeface="Arial" pitchFamily="34" charset="-122"/>
                <a:cs typeface="Arial" pitchFamily="34" charset="-120"/>
              </a:rPr>
              <a:t>[ YOUR LINK HERE ]</a:t>
            </a:r>
            <a:endParaRPr lang="en-US" sz="5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GOT IT when</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you see the link.</a:t>
            </a:r>
            <a:endParaRPr lang="en-US" sz="4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463040"/>
            <a:ext cx="10607040" cy="914400"/>
          </a:xfrm>
          <a:prstGeom prst="rect">
            <a:avLst/>
          </a:prstGeom>
          <a:noFill/>
          <a:ln/>
        </p:spPr>
        <p:txBody>
          <a:bodyPr wrap="square" lIns="0" tIns="0" rIns="0" bIns="0" rtlCol="0" anchor="ctr"/>
          <a:lstStyle/>
          <a:p>
            <a:pPr indent="0" marL="0">
              <a:buNone/>
            </a:pPr>
            <a:r>
              <a:rPr lang="en-US" sz="6400" b="1" strike="sngStrike" dirty="0">
                <a:solidFill>
                  <a:srgbClr val="6B7280"/>
                </a:solidFill>
                <a:latin typeface="Arial" pitchFamily="34" charset="0"/>
                <a:ea typeface="Arial" pitchFamily="34" charset="-122"/>
                <a:cs typeface="Arial" pitchFamily="34" charset="-120"/>
              </a:rPr>
              <a:t>$247</a:t>
            </a:r>
            <a:endParaRPr lang="en-US" sz="6400" dirty="0"/>
          </a:p>
        </p:txBody>
      </p:sp>
      <p:sp>
        <p:nvSpPr>
          <p:cNvPr id="6" name="Text 4"/>
          <p:cNvSpPr txBox="1"/>
          <p:nvPr/>
        </p:nvSpPr>
        <p:spPr>
          <a:xfrm>
            <a:off x="777240" y="2514600"/>
            <a:ext cx="10607040" cy="1737360"/>
          </a:xfrm>
          <a:prstGeom prst="rect">
            <a:avLst/>
          </a:prstGeom>
          <a:noFill/>
          <a:ln/>
        </p:spPr>
        <p:txBody>
          <a:bodyPr wrap="square" lIns="0" tIns="0" rIns="0" bIns="0" rtlCol="0" anchor="ctr"/>
          <a:lstStyle/>
          <a:p>
            <a:pPr indent="0" marL="0">
              <a:buNone/>
            </a:pPr>
            <a:r>
              <a:rPr lang="en-US" sz="7000" b="1" dirty="0">
                <a:solidFill>
                  <a:srgbClr val="2ECC34"/>
                </a:solidFill>
                <a:latin typeface="Arial" pitchFamily="34" charset="0"/>
                <a:ea typeface="Arial" pitchFamily="34" charset="-122"/>
                <a:cs typeface="Arial" pitchFamily="34" charset="-120"/>
              </a:rPr>
              <a:t>$1 TO GET STARTED</a:t>
            </a:r>
            <a:endParaRPr lang="en-US" sz="7000" dirty="0"/>
          </a:p>
        </p:txBody>
      </p:sp>
      <p:sp>
        <p:nvSpPr>
          <p:cNvPr id="7" name="Text 5"/>
          <p:cNvSpPr txBox="1"/>
          <p:nvPr/>
        </p:nvSpPr>
        <p:spPr>
          <a:xfrm>
            <a:off x="777240" y="4343400"/>
            <a:ext cx="10607040" cy="640080"/>
          </a:xfrm>
          <a:prstGeom prst="rect">
            <a:avLst/>
          </a:prstGeom>
          <a:noFill/>
          <a:ln/>
        </p:spPr>
        <p:txBody>
          <a:bodyPr wrap="square" lIns="0" tIns="0" rIns="0" bIns="0" rtlCol="0" anchor="ctr"/>
          <a:lstStyle/>
          <a:p>
            <a:pPr indent="0" marL="0">
              <a:buNone/>
            </a:pPr>
            <a:r>
              <a:rPr lang="en-US" sz="2400" dirty="0">
                <a:solidFill>
                  <a:srgbClr val="C9CFD6"/>
                </a:solidFill>
                <a:latin typeface="Calibri" pitchFamily="34" charset="0"/>
                <a:ea typeface="Calibri" pitchFamily="34" charset="-122"/>
                <a:cs typeface="Calibri" pitchFamily="34" charset="-120"/>
              </a:rPr>
              <a:t>7 days, then $97/month  ·  [ YOUR LINK ]</a:t>
            </a:r>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777240" y="2103120"/>
            <a:ext cx="155448" cy="155448"/>
          </a:xfrm>
          <a:prstGeom prst="ellipse">
            <a:avLst/>
          </a:prstGeom>
          <a:solidFill>
            <a:srgbClr val="D61A20"/>
          </a:solidFill>
          <a:ln/>
        </p:spPr>
      </p:sp>
      <p:sp>
        <p:nvSpPr>
          <p:cNvPr id="3" name="Shape 1"/>
          <p:cNvSpPr/>
          <p:nvPr/>
        </p:nvSpPr>
        <p:spPr>
          <a:xfrm>
            <a:off x="1033272" y="2103120"/>
            <a:ext cx="155448" cy="155448"/>
          </a:xfrm>
          <a:prstGeom prst="ellipse">
            <a:avLst/>
          </a:prstGeom>
          <a:solidFill>
            <a:srgbClr val="D6A83A"/>
          </a:solidFill>
          <a:ln/>
        </p:spPr>
      </p:sp>
      <p:sp>
        <p:nvSpPr>
          <p:cNvPr id="4" name="Shape 2"/>
          <p:cNvSpPr/>
          <p:nvPr/>
        </p:nvSpPr>
        <p:spPr>
          <a:xfrm>
            <a:off x="1289304" y="2103120"/>
            <a:ext cx="155448" cy="155448"/>
          </a:xfrm>
          <a:prstGeom prst="ellipse">
            <a:avLst/>
          </a:prstGeom>
          <a:solidFill>
            <a:srgbClr val="2ECC34"/>
          </a:solidFill>
          <a:ln/>
        </p:spPr>
      </p:sp>
      <p:sp>
        <p:nvSpPr>
          <p:cNvPr id="5" name="Text 3"/>
          <p:cNvSpPr txBox="1"/>
          <p:nvPr/>
        </p:nvSpPr>
        <p:spPr>
          <a:xfrm>
            <a:off x="777240" y="2514600"/>
            <a:ext cx="10607040" cy="14630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LIVE DEMO</a:t>
            </a:r>
            <a:endParaRPr lang="en-US" sz="6000" dirty="0"/>
          </a:p>
        </p:txBody>
      </p:sp>
      <p:sp>
        <p:nvSpPr>
          <p:cNvPr id="6" name="Text 4"/>
          <p:cNvSpPr txBox="1"/>
          <p:nvPr/>
        </p:nvSpPr>
        <p:spPr>
          <a:xfrm>
            <a:off x="777240" y="4023360"/>
            <a:ext cx="10607040" cy="731520"/>
          </a:xfrm>
          <a:prstGeom prst="rect">
            <a:avLst/>
          </a:prstGeom>
          <a:noFill/>
          <a:ln/>
        </p:spPr>
        <p:txBody>
          <a:bodyPr wrap="square" lIns="0" tIns="0" rIns="0" bIns="0" rtlCol="0" anchor="ctr"/>
          <a:lstStyle/>
          <a:p>
            <a:pPr indent="0" marL="0">
              <a:buNone/>
            </a:pPr>
            <a:r>
              <a:rPr lang="en-US" sz="2400" dirty="0">
                <a:solidFill>
                  <a:srgbClr val="AEB6BF"/>
                </a:solidFill>
                <a:latin typeface="Calibri" pitchFamily="34" charset="0"/>
                <a:ea typeface="Calibri" pitchFamily="34" charset="-122"/>
                <a:cs typeface="Calibri" pitchFamily="34" charset="-120"/>
              </a:rPr>
              <a:t>Slides off. The link stays on screen.</a:t>
            </a:r>
            <a:endParaRPr lang="en-US"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you want to see</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your own ten lines.</a:t>
            </a:r>
            <a:endParaRPr lang="en-US" sz="46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you thought that</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number would be higher.</a:t>
            </a:r>
            <a:endParaRPr lang="en-US" sz="4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that was</a:t>
            </a:r>
            <a:endParaRPr lang="en-US" sz="4600" dirty="0"/>
          </a:p>
          <a:p>
            <a:pPr indent="0" marL="0">
              <a:lnSpc>
                <a:spcPts val="5600"/>
              </a:lnSpc>
              <a:buNone/>
            </a:pPr>
            <a:r>
              <a:rPr lang="en-US" sz="4600" b="1" dirty="0">
                <a:solidFill>
                  <a:srgbClr val="FFFFFF"/>
                </a:solidFill>
                <a:latin typeface="Arial" pitchFamily="34" charset="0"/>
                <a:ea typeface="Arial" pitchFamily="34" charset="-122"/>
                <a:cs typeface="Arial" pitchFamily="34" charset="-120"/>
              </a:rPr>
              <a:t>helpful tonight.</a:t>
            </a:r>
            <a:endParaRPr lang="en-US" sz="4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777240" y="914400"/>
            <a:ext cx="155448" cy="155448"/>
          </a:xfrm>
          <a:prstGeom prst="ellipse">
            <a:avLst/>
          </a:prstGeom>
          <a:solidFill>
            <a:srgbClr val="D61A20"/>
          </a:solidFill>
          <a:ln/>
        </p:spPr>
      </p:sp>
      <p:sp>
        <p:nvSpPr>
          <p:cNvPr id="3" name="Shape 1"/>
          <p:cNvSpPr/>
          <p:nvPr/>
        </p:nvSpPr>
        <p:spPr>
          <a:xfrm>
            <a:off x="1033272" y="914400"/>
            <a:ext cx="155448" cy="155448"/>
          </a:xfrm>
          <a:prstGeom prst="ellipse">
            <a:avLst/>
          </a:prstGeom>
          <a:solidFill>
            <a:srgbClr val="D6A83A"/>
          </a:solidFill>
          <a:ln/>
        </p:spPr>
      </p:sp>
      <p:sp>
        <p:nvSpPr>
          <p:cNvPr id="4" name="Shape 2"/>
          <p:cNvSpPr/>
          <p:nvPr/>
        </p:nvSpPr>
        <p:spPr>
          <a:xfrm>
            <a:off x="1289304" y="914400"/>
            <a:ext cx="155448" cy="155448"/>
          </a:xfrm>
          <a:prstGeom prst="ellipse">
            <a:avLst/>
          </a:prstGeom>
          <a:solidFill>
            <a:srgbClr val="2ECC34"/>
          </a:solidFill>
          <a:ln/>
        </p:spPr>
      </p:sp>
      <p:sp>
        <p:nvSpPr>
          <p:cNvPr id="5" name="Text 3"/>
          <p:cNvSpPr txBox="1"/>
          <p:nvPr/>
        </p:nvSpPr>
        <p:spPr>
          <a:xfrm>
            <a:off x="777240" y="1463040"/>
            <a:ext cx="10607040" cy="1737360"/>
          </a:xfrm>
          <a:prstGeom prst="rect">
            <a:avLst/>
          </a:prstGeom>
          <a:noFill/>
          <a:ln/>
        </p:spPr>
        <p:txBody>
          <a:bodyPr wrap="square" lIns="0" tIns="0" rIns="0" bIns="0" rtlCol="0" anchor="ctr"/>
          <a:lstStyle/>
          <a:p>
            <a:pPr indent="0" marL="0">
              <a:buNone/>
            </a:pPr>
            <a:r>
              <a:rPr lang="en-US" sz="7400" b="1" dirty="0">
                <a:solidFill>
                  <a:srgbClr val="2ECC34"/>
                </a:solidFill>
                <a:latin typeface="Arial" pitchFamily="34" charset="0"/>
                <a:ea typeface="Arial" pitchFamily="34" charset="-122"/>
                <a:cs typeface="Arial" pitchFamily="34" charset="-120"/>
              </a:rPr>
              <a:t>$1 TO GET STARTED</a:t>
            </a:r>
            <a:endParaRPr lang="en-US" sz="7400" dirty="0"/>
          </a:p>
        </p:txBody>
      </p:sp>
      <p:sp>
        <p:nvSpPr>
          <p:cNvPr id="6" name="Text 4"/>
          <p:cNvSpPr txBox="1"/>
          <p:nvPr/>
        </p:nvSpPr>
        <p:spPr>
          <a:xfrm>
            <a:off x="777240" y="3291840"/>
            <a:ext cx="10607040" cy="640080"/>
          </a:xfrm>
          <a:prstGeom prst="rect">
            <a:avLst/>
          </a:prstGeom>
          <a:noFill/>
          <a:ln/>
        </p:spPr>
        <p:txBody>
          <a:bodyPr wrap="square" lIns="0" tIns="0" rIns="0" bIns="0" rtlCol="0" anchor="ctr"/>
          <a:lstStyle/>
          <a:p>
            <a:pPr indent="0" marL="0">
              <a:buNone/>
            </a:pPr>
            <a:r>
              <a:rPr lang="en-US" sz="2400" dirty="0">
                <a:solidFill>
                  <a:srgbClr val="C9CFD6"/>
                </a:solidFill>
                <a:latin typeface="Calibri" pitchFamily="34" charset="0"/>
                <a:ea typeface="Calibri" pitchFamily="34" charset="-122"/>
                <a:cs typeface="Calibri" pitchFamily="34" charset="-120"/>
              </a:rPr>
              <a:t>7 days, then $97/month  ·  [ YOUR LINK ]</a:t>
            </a:r>
            <a:endParaRPr lang="en-US"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777240" y="914400"/>
            <a:ext cx="3200400" cy="685800"/>
          </a:xfrm>
          <a:prstGeom prst="roundRect">
            <a:avLst>
              <a:gd name="adj" fmla="val 16000"/>
            </a:avLst>
          </a:prstGeom>
          <a:solidFill>
            <a:srgbClr val="2ECC34"/>
          </a:solidFill>
          <a:ln/>
        </p:spPr>
      </p:sp>
      <p:sp>
        <p:nvSpPr>
          <p:cNvPr id="3" name="Text 1"/>
          <p:cNvSpPr txBox="1"/>
          <p:nvPr/>
        </p:nvSpPr>
        <p:spPr>
          <a:xfrm>
            <a:off x="777240" y="914400"/>
            <a:ext cx="3200400" cy="685800"/>
          </a:xfrm>
          <a:prstGeom prst="rect">
            <a:avLst/>
          </a:prstGeom>
          <a:noFill/>
          <a:ln/>
        </p:spPr>
        <p:txBody>
          <a:bodyPr wrap="square" lIns="0" tIns="0" rIns="0" bIns="0" rtlCol="0" anchor="ctr"/>
          <a:lstStyle/>
          <a:p>
            <a:pPr algn="ctr" indent="0" marL="0">
              <a:buNone/>
            </a:pPr>
            <a:r>
              <a:rPr lang="en-US" sz="1900" b="1" dirty="0">
                <a:solidFill>
                  <a:srgbClr val="0A0A0C"/>
                </a:solidFill>
                <a:latin typeface="Arial" pitchFamily="34" charset="0"/>
                <a:ea typeface="Arial" pitchFamily="34" charset="-122"/>
                <a:cs typeface="Arial" pitchFamily="34" charset="-120"/>
              </a:rPr>
              <a:t>TYPE IN THE CHAT</a:t>
            </a:r>
            <a:endParaRPr lang="en-US" sz="1900" dirty="0"/>
          </a:p>
        </p:txBody>
      </p:sp>
      <p:sp>
        <p:nvSpPr>
          <p:cNvPr id="4" name="Text 2"/>
          <p:cNvSpPr txBox="1"/>
          <p:nvPr/>
        </p:nvSpPr>
        <p:spPr>
          <a:xfrm>
            <a:off x="777240" y="2057400"/>
            <a:ext cx="10607040" cy="274320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Arial" pitchFamily="34" charset="0"/>
                <a:ea typeface="Arial" pitchFamily="34" charset="-122"/>
                <a:cs typeface="Arial" pitchFamily="34" charset="-120"/>
              </a:rPr>
              <a:t>Type YES if you're in.</a:t>
            </a:r>
            <a:endParaRPr lang="en-US" sz="46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a:off x="777240" y="777240"/>
            <a:ext cx="155448" cy="155448"/>
          </a:xfrm>
          <a:prstGeom prst="ellipse">
            <a:avLst/>
          </a:prstGeom>
          <a:solidFill>
            <a:srgbClr val="D61A20"/>
          </a:solidFill>
          <a:ln/>
        </p:spPr>
      </p:sp>
      <p:sp>
        <p:nvSpPr>
          <p:cNvPr id="3" name="Shape 1"/>
          <p:cNvSpPr/>
          <p:nvPr/>
        </p:nvSpPr>
        <p:spPr>
          <a:xfrm>
            <a:off x="1033272" y="777240"/>
            <a:ext cx="155448" cy="155448"/>
          </a:xfrm>
          <a:prstGeom prst="ellipse">
            <a:avLst/>
          </a:prstGeom>
          <a:solidFill>
            <a:srgbClr val="D6A83A"/>
          </a:solidFill>
          <a:ln/>
        </p:spPr>
      </p:sp>
      <p:sp>
        <p:nvSpPr>
          <p:cNvPr id="4" name="Shape 2"/>
          <p:cNvSpPr/>
          <p:nvPr/>
        </p:nvSpPr>
        <p:spPr>
          <a:xfrm>
            <a:off x="1289304" y="777240"/>
            <a:ext cx="155448" cy="155448"/>
          </a:xfrm>
          <a:prstGeom prst="ellipse">
            <a:avLst/>
          </a:prstGeom>
          <a:solidFill>
            <a:srgbClr val="2ECC34"/>
          </a:solidFill>
          <a:ln/>
        </p:spPr>
      </p:sp>
      <p:sp>
        <p:nvSpPr>
          <p:cNvPr id="5" name="Text 3"/>
          <p:cNvSpPr txBox="1"/>
          <p:nvPr/>
        </p:nvSpPr>
        <p:spPr>
          <a:xfrm>
            <a:off x="777240" y="1097280"/>
            <a:ext cx="10607040" cy="91440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QUESTIONS</a:t>
            </a:r>
            <a:endParaRPr lang="en-US" sz="5200" dirty="0"/>
          </a:p>
        </p:txBody>
      </p:sp>
      <p:sp>
        <p:nvSpPr>
          <p:cNvPr id="6" name="Text 4"/>
          <p:cNvSpPr txBox="1"/>
          <p:nvPr/>
        </p:nvSpPr>
        <p:spPr>
          <a:xfrm>
            <a:off x="777240" y="2148840"/>
            <a:ext cx="4937760" cy="365760"/>
          </a:xfrm>
          <a:prstGeom prst="rect">
            <a:avLst/>
          </a:prstGeom>
          <a:noFill/>
          <a:ln/>
        </p:spPr>
        <p:txBody>
          <a:bodyPr wrap="square" lIns="0" tIns="0" rIns="0" bIns="0" rtlCol="0" anchor="ctr"/>
          <a:lstStyle/>
          <a:p>
            <a:pPr indent="0" marL="0">
              <a:buNone/>
            </a:pPr>
            <a:r>
              <a:rPr lang="en-US" sz="1300" b="1" spc="200" kern="0" dirty="0">
                <a:solidFill>
                  <a:srgbClr val="D6A83A"/>
                </a:solidFill>
                <a:latin typeface="Arial" pitchFamily="34" charset="0"/>
                <a:ea typeface="Arial" pitchFamily="34" charset="-122"/>
                <a:cs typeface="Arial" pitchFamily="34" charset="-120"/>
              </a:rPr>
              <a:t>THE BLUEPRINT</a:t>
            </a:r>
            <a:endParaRPr lang="en-US" sz="1300" dirty="0"/>
          </a:p>
        </p:txBody>
      </p:sp>
      <p:sp>
        <p:nvSpPr>
          <p:cNvPr id="7" name="Text 5"/>
          <p:cNvSpPr txBox="1"/>
          <p:nvPr/>
        </p:nvSpPr>
        <p:spPr>
          <a:xfrm>
            <a:off x="777240" y="2606040"/>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1.  700 score?</a:t>
            </a:r>
            <a:endParaRPr lang="en-US" sz="1500" dirty="0"/>
          </a:p>
        </p:txBody>
      </p:sp>
      <p:sp>
        <p:nvSpPr>
          <p:cNvPr id="8" name="Text 6"/>
          <p:cNvSpPr txBox="1"/>
          <p:nvPr/>
        </p:nvSpPr>
        <p:spPr>
          <a:xfrm>
            <a:off x="777240" y="2916936"/>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2.  Under 30% utilization?</a:t>
            </a:r>
            <a:endParaRPr lang="en-US" sz="1500" dirty="0"/>
          </a:p>
        </p:txBody>
      </p:sp>
      <p:sp>
        <p:nvSpPr>
          <p:cNvPr id="9" name="Text 7"/>
          <p:cNvSpPr txBox="1"/>
          <p:nvPr/>
        </p:nvSpPr>
        <p:spPr>
          <a:xfrm>
            <a:off x="777240" y="3227832"/>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3.  5 cards, 2 yrs history?</a:t>
            </a:r>
            <a:endParaRPr lang="en-US" sz="1500" dirty="0"/>
          </a:p>
        </p:txBody>
      </p:sp>
      <p:sp>
        <p:nvSpPr>
          <p:cNvPr id="10" name="Text 8"/>
          <p:cNvSpPr txBox="1"/>
          <p:nvPr/>
        </p:nvSpPr>
        <p:spPr>
          <a:xfrm>
            <a:off x="777240" y="3538728"/>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4.  3 cards, 3 yrs, $5,000?</a:t>
            </a:r>
            <a:endParaRPr lang="en-US" sz="1500" dirty="0"/>
          </a:p>
        </p:txBody>
      </p:sp>
      <p:sp>
        <p:nvSpPr>
          <p:cNvPr id="11" name="Text 9"/>
          <p:cNvSpPr txBox="1"/>
          <p:nvPr/>
        </p:nvSpPr>
        <p:spPr>
          <a:xfrm>
            <a:off x="777240" y="3849624"/>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5.  4+ new accounts / 12 mo?</a:t>
            </a:r>
            <a:endParaRPr lang="en-US" sz="1500" dirty="0"/>
          </a:p>
        </p:txBody>
      </p:sp>
      <p:sp>
        <p:nvSpPr>
          <p:cNvPr id="12" name="Text 10"/>
          <p:cNvSpPr txBox="1"/>
          <p:nvPr/>
        </p:nvSpPr>
        <p:spPr>
          <a:xfrm>
            <a:off x="777240" y="4160520"/>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6.  Under 4 inquiries?</a:t>
            </a:r>
            <a:endParaRPr lang="en-US" sz="1500" dirty="0"/>
          </a:p>
        </p:txBody>
      </p:sp>
      <p:sp>
        <p:nvSpPr>
          <p:cNvPr id="13" name="Text 11"/>
          <p:cNvSpPr txBox="1"/>
          <p:nvPr/>
        </p:nvSpPr>
        <p:spPr>
          <a:xfrm>
            <a:off x="777240" y="4471416"/>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7.  Collections?</a:t>
            </a:r>
            <a:endParaRPr lang="en-US" sz="1500" dirty="0"/>
          </a:p>
        </p:txBody>
      </p:sp>
      <p:sp>
        <p:nvSpPr>
          <p:cNvPr id="14" name="Text 12"/>
          <p:cNvSpPr txBox="1"/>
          <p:nvPr/>
        </p:nvSpPr>
        <p:spPr>
          <a:xfrm>
            <a:off x="777240" y="4782312"/>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8.  Charge-offs?</a:t>
            </a:r>
            <a:endParaRPr lang="en-US" sz="1500" dirty="0"/>
          </a:p>
        </p:txBody>
      </p:sp>
      <p:sp>
        <p:nvSpPr>
          <p:cNvPr id="15" name="Text 13"/>
          <p:cNvSpPr txBox="1"/>
          <p:nvPr/>
        </p:nvSpPr>
        <p:spPr>
          <a:xfrm>
            <a:off x="777240" y="5093208"/>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9.  Late payments?</a:t>
            </a:r>
            <a:endParaRPr lang="en-US" sz="1500" dirty="0"/>
          </a:p>
        </p:txBody>
      </p:sp>
      <p:sp>
        <p:nvSpPr>
          <p:cNvPr id="16" name="Text 14"/>
          <p:cNvSpPr txBox="1"/>
          <p:nvPr/>
        </p:nvSpPr>
        <p:spPr>
          <a:xfrm>
            <a:off x="777240" y="5404104"/>
            <a:ext cx="4937760" cy="310896"/>
          </a:xfrm>
          <a:prstGeom prst="rect">
            <a:avLst/>
          </a:prstGeom>
          <a:noFill/>
          <a:ln/>
        </p:spPr>
        <p:txBody>
          <a:bodyPr wrap="square" lIns="0" tIns="0" rIns="0" bIns="0" rtlCol="0" anchor="ctr"/>
          <a:lstStyle/>
          <a:p>
            <a:pPr indent="0" marL="0">
              <a:buNone/>
            </a:pPr>
            <a:r>
              <a:rPr lang="en-US" sz="1500" dirty="0">
                <a:solidFill>
                  <a:srgbClr val="D8DCE1"/>
                </a:solidFill>
                <a:latin typeface="Calibri" pitchFamily="34" charset="0"/>
                <a:ea typeface="Calibri" pitchFamily="34" charset="-122"/>
                <a:cs typeface="Calibri" pitchFamily="34" charset="-120"/>
              </a:rPr>
              <a:t>10.  Bankruptcy?</a:t>
            </a:r>
            <a:endParaRPr lang="en-US" sz="1500" dirty="0"/>
          </a:p>
        </p:txBody>
      </p:sp>
      <p:sp>
        <p:nvSpPr>
          <p:cNvPr id="17" name="Shape 15"/>
          <p:cNvSpPr/>
          <p:nvPr/>
        </p:nvSpPr>
        <p:spPr>
          <a:xfrm>
            <a:off x="6537960" y="2148840"/>
            <a:ext cx="4846320" cy="3017520"/>
          </a:xfrm>
          <a:prstGeom prst="roundRect">
            <a:avLst>
              <a:gd name="adj" fmla="val 4242"/>
            </a:avLst>
          </a:prstGeom>
          <a:solidFill>
            <a:srgbClr val="16181C"/>
          </a:solidFill>
          <a:ln w="25400">
            <a:solidFill>
              <a:srgbClr val="2ECC34"/>
            </a:solidFill>
            <a:prstDash val="solid"/>
          </a:ln>
        </p:spPr>
      </p:sp>
      <p:sp>
        <p:nvSpPr>
          <p:cNvPr id="18" name="Text 16"/>
          <p:cNvSpPr txBox="1"/>
          <p:nvPr/>
        </p:nvSpPr>
        <p:spPr>
          <a:xfrm>
            <a:off x="6537960" y="2743200"/>
            <a:ext cx="4846320" cy="822960"/>
          </a:xfrm>
          <a:prstGeom prst="rect">
            <a:avLst/>
          </a:prstGeom>
          <a:noFill/>
          <a:ln/>
        </p:spPr>
        <p:txBody>
          <a:bodyPr wrap="square" lIns="0" tIns="0" rIns="0" bIns="0" rtlCol="0" anchor="ctr"/>
          <a:lstStyle/>
          <a:p>
            <a:pPr algn="ctr" indent="0" marL="0">
              <a:buNone/>
            </a:pPr>
            <a:r>
              <a:rPr lang="en-US" sz="3400" b="1" dirty="0">
                <a:solidFill>
                  <a:srgbClr val="2ECC34"/>
                </a:solidFill>
                <a:latin typeface="Arial" pitchFamily="34" charset="0"/>
                <a:ea typeface="Arial" pitchFamily="34" charset="-122"/>
                <a:cs typeface="Arial" pitchFamily="34" charset="-120"/>
              </a:rPr>
              <a:t>$1 TO GET STARTED</a:t>
            </a:r>
            <a:endParaRPr lang="en-US" sz="3400" dirty="0"/>
          </a:p>
        </p:txBody>
      </p:sp>
      <p:sp>
        <p:nvSpPr>
          <p:cNvPr id="19" name="Text 17"/>
          <p:cNvSpPr txBox="1"/>
          <p:nvPr/>
        </p:nvSpPr>
        <p:spPr>
          <a:xfrm>
            <a:off x="6537960" y="3611880"/>
            <a:ext cx="4846320" cy="457200"/>
          </a:xfrm>
          <a:prstGeom prst="rect">
            <a:avLst/>
          </a:prstGeom>
          <a:noFill/>
          <a:ln/>
        </p:spPr>
        <p:txBody>
          <a:bodyPr wrap="square" lIns="0" tIns="0" rIns="0" bIns="0" rtlCol="0" anchor="ctr"/>
          <a:lstStyle/>
          <a:p>
            <a:pPr algn="ctr" indent="0" marL="0">
              <a:buNone/>
            </a:pPr>
            <a:r>
              <a:rPr lang="en-US" sz="2000" dirty="0">
                <a:solidFill>
                  <a:srgbClr val="C9CFD6"/>
                </a:solidFill>
                <a:latin typeface="Calibri" pitchFamily="34" charset="0"/>
                <a:ea typeface="Calibri" pitchFamily="34" charset="-122"/>
                <a:cs typeface="Calibri" pitchFamily="34" charset="-120"/>
              </a:rPr>
              <a:t>7 days, then $97/month</a:t>
            </a:r>
            <a:endParaRPr lang="en-US" sz="2000" dirty="0"/>
          </a:p>
        </p:txBody>
      </p:sp>
      <p:sp>
        <p:nvSpPr>
          <p:cNvPr id="20" name="Text 18"/>
          <p:cNvSpPr txBox="1"/>
          <p:nvPr/>
        </p:nvSpPr>
        <p:spPr>
          <a:xfrm>
            <a:off x="6537960" y="4160520"/>
            <a:ext cx="4846320" cy="457200"/>
          </a:xfrm>
          <a:prstGeom prst="rect">
            <a:avLst/>
          </a:prstGeom>
          <a:noFill/>
          <a:ln/>
        </p:spPr>
        <p:txBody>
          <a:bodyPr wrap="square" lIns="0" tIns="0" rIns="0" bIns="0" rtlCol="0" anchor="ctr"/>
          <a:lstStyle/>
          <a:p>
            <a:pPr algn="ctr" indent="0" marL="0">
              <a:buNone/>
            </a:pPr>
            <a:r>
              <a:rPr lang="en-US" sz="1800" dirty="0">
                <a:solidFill>
                  <a:srgbClr val="D6A83A"/>
                </a:solidFill>
                <a:latin typeface="Calibri" pitchFamily="34" charset="0"/>
                <a:ea typeface="Calibri" pitchFamily="34" charset="-122"/>
                <a:cs typeface="Calibri" pitchFamily="34" charset="-120"/>
              </a:rPr>
              <a:t>[ YOUR LINK ]</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Score Machine — Masterclass</dc:title>
  <dc:subject>PptxGenJS Presentation</dc:subject>
  <dc:creator>Get AI Leads Now</dc:creator>
  <cp:lastModifiedBy>Get AI Leads Now</cp:lastModifiedBy>
  <cp:revision>1</cp:revision>
  <dcterms:created xsi:type="dcterms:W3CDTF">2026-08-30T22:06:11Z</dcterms:created>
  <dcterms:modified xsi:type="dcterms:W3CDTF">2026-08-30T22:06:11Z</dcterms:modified>
</cp:coreProperties>
</file>